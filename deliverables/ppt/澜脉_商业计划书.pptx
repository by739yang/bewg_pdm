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titleStyle>
    <p:body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bodyStyle>
    <p:other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 bar"/>
          <p:cNvSpPr/>
          <p:nvPr/>
        </p:nvSpPr>
        <p:spPr>
          <a:xfrm>
            <a:off x="914400" y="2250000"/>
            <a:ext cx="240000" cy="16000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1550000" y="2160000"/>
            <a:ext cx="9250000" cy="1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4400" b="1" dirty="0">
                <a:solidFill>
                  <a:srgbClr val="F4EFE6"/>
                </a:solidFill>
                <a:latin typeface="Georgia"/>
                <a:ea typeface="Georgia"/>
              </a:rPr>
              <a:t>澜脉 · 污水厂设备 AI 预测性维护系统</a:t>
            </a:r>
          </a:p>
        </p:txBody>
      </p:sp>
      <p:sp>
        <p:nvSpPr>
          <p:cNvPr id="13" name="Subtitle"/>
          <p:cNvSpPr txBox="1"/>
          <p:nvPr/>
        </p:nvSpPr>
        <p:spPr>
          <a:xfrm>
            <a:off x="1570000" y="4150000"/>
            <a:ext cx="9000000" cy="12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2200" b="0" dirty="0">
                <a:solidFill>
                  <a:srgbClr val="A79F91"/>
                </a:solidFill>
                <a:latin typeface="Helvetica Neue"/>
                <a:ea typeface="Helvetica Neue"/>
              </a:rPr>
              <a:t>北控水务杯第九届 · 创意转化组 · 命题 2-6 ｜ 不加任何新传感器，用厂里已有信号做设备预警与维护决策</a:t>
            </a:r>
          </a:p>
        </p:txBody>
      </p:sp>
      <p:sp>
        <p:nvSpPr>
          <p:cNvPr id="14" name="Kicker"/>
          <p:cNvSpPr txBox="1"/>
          <p:nvPr/>
        </p:nvSpPr>
        <p:spPr>
          <a:xfrm>
            <a:off x="1570000" y="5800000"/>
            <a:ext cx="7000000" cy="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开场</a:t>
            </a:r>
          </a:p>
        </p:txBody>
      </p:sp>
      <p:sp>
        <p:nvSpPr>
          <p:cNvPr id="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01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目录</a:t>
            </a:r>
          </a:p>
        </p:txBody>
      </p:sp>
      <p:sp>
        <p:nvSpPr>
          <p:cNvPr id="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目录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项目概述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产品与服务设计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技术创新与证据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产品形态与使用方式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行业背景与目标市场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竞争格局与优势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商业模式与财务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实施计划与风险</a:t>
            </a:r>
          </a:p>
        </p:txBody>
      </p:sp>
      <p:sp>
        <p:nvSpPr>
          <p:cNvPr id="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02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目录（续）</a:t>
            </a:r>
          </a:p>
        </p:txBody>
      </p:sp>
      <p:sp>
        <p:nvSpPr>
          <p:cNvPr id="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目录（续）</a:t>
            </a:r>
          </a:p>
        </p:txBody>
      </p:sp>
      <p:sp>
        <p:nvSpPr>
          <p:cNvPr id="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团队与附录</a:t>
            </a:r>
          </a:p>
        </p:txBody>
      </p:sp>
      <p:sp>
        <p:nvSpPr>
          <p:cNvPr id="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03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现状：关键设备仍是"坏了才修、到期就修"</a:t>
            </a:r>
          </a:p>
        </p:txBody>
      </p:sp>
      <p:sp>
        <p:nvSpPr>
          <p:cNvPr id="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现状：关键设备仍是"坏了才修、到期就修"</a:t>
            </a:r>
          </a:p>
        </p:txBody>
      </p:sp>
      <p:sp>
        <p:nvSpPr>
          <p:cNvPr id="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鼓风机、脱水机、泵：非计划停机代价高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定期大修：备件与人工浪费在没坏的设备上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电流、温度、压力、流量数据厂里本来就有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缺的是"从数据看出设备在退化"的方法与工具</a:t>
            </a:r>
          </a:p>
        </p:txBody>
      </p:sp>
      <p:sp>
        <p:nvSpPr>
          <p:cNvPr id="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04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澜脉：不加传感器，回答四个问题</a:t>
            </a:r>
          </a:p>
        </p:txBody>
      </p:sp>
      <p:sp>
        <p:nvSpPr>
          <p:cNvPr id="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澜脉：不加传感器，回答四个问题</a:t>
            </a:r>
          </a:p>
        </p:txBody>
      </p:sp>
      <p:sp>
        <p:nvSpPr>
          <p:cNvPr id="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有没有异常 → 是什么故障 → 还剩多久 → 何时修最省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纯软件：可离线部署，数据不出厂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面向污水厂（TO B / TO G），按设备数订阅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命题 2-6 要的是完整闭环，不是单点算法演示</a:t>
            </a:r>
          </a:p>
        </p:txBody>
      </p:sp>
      <p:sp>
        <p:nvSpPr>
          <p:cNvPr id="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05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产品：一条链路四段，每段都有可核查数字</a:t>
            </a:r>
          </a:p>
        </p:txBody>
      </p:sp>
      <p:graphicFrame>
        <p:nvGraphicFramePr>
          <p:cNvPr id="6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3433333"/>
                <a:gridCol w="3433333"/>
                <a:gridCol w="3433333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环节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回答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关键结果（口径见附录）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① 检测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有没有异常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双基线 + 工况条件化 + 分级告警 P1/P2/P3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② 诊断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是什么故障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CWRU 同记录/跨转速 宏F1 1.000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③ 剩余寿命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还剩多久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C-MAPSS RMSE 15.27；孪生机理 1.00–4.04 天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④ 决策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何时修最省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C-MAPSS 省约 16%；污泥线 24.5%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06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创新一：双基线并行，慢漂移与突变分别治理</a:t>
            </a:r>
          </a:p>
        </p:txBody>
      </p:sp>
      <p:sp>
        <p:nvSpPr>
          <p:cNvPr id="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创新一：双基线并行，慢漂移与突变分别治理</a:t>
            </a:r>
          </a:p>
        </p:txBody>
      </p:sp>
      <p:sp>
        <p:nvSpPr>
          <p:cNvPr id="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冻结基线抓慢漂移，短窗自适应抓突变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自适应通道对慢漂移实测完全漏检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同召回下误报事件比对照实现少 2.8 倍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事件机把分数变成"事件"，而不是点报警</a:t>
            </a:r>
          </a:p>
        </p:txBody>
      </p:sp>
      <p:sp>
        <p:nvSpPr>
          <p:cNvPr id="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07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创新二：阈值必须按工况标定，绝对阈值必然失效</a:t>
            </a:r>
          </a:p>
        </p:txBody>
      </p:sp>
      <p:sp>
        <p:nvSpPr>
          <p:cNvPr id="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创新二：阈值必须按工况标定，绝对阈值必然失效</a:t>
            </a:r>
          </a:p>
        </p:txBody>
      </p:sp>
      <p:sp>
        <p:nvSpPr>
          <p:cNvPr id="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换一段进水，健康本底就变，绝对阈值立刻失效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工况分箱条件化：健康轨迹最高分 19.18 → 14.86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仍不够时用同期同工况对拍差分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对拍让原始量从"检不出"变成失效前 14.5 天</a:t>
            </a:r>
          </a:p>
        </p:txBody>
      </p:sp>
      <p:sp>
        <p:nvSpPr>
          <p:cNvPr id="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08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创新三：设备级比值通道，全厂大数据看不见的退化它看得见</a:t>
            </a:r>
          </a:p>
        </p:txBody>
      </p:sp>
      <p:sp>
        <p:nvSpPr>
          <p:cNvPr id="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创新三：设备级比值通道，全厂大数据看不见的退化它看得见</a:t>
            </a:r>
          </a:p>
        </p:txBody>
      </p:sp>
      <p:sp>
        <p:nvSpPr>
          <p:cNvPr id="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整厂 5 个原始量：零误报口径 86.11 天（晚于失效）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设备级比值（干固体 ÷ 湿泥饼量）：9.80 天检出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提前 37.47 天；湿泥饼量 +55.53%（理论 +55.6%）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沼气、能耗、出水几乎无痕（±0.03%）</a:t>
            </a:r>
          </a:p>
        </p:txBody>
      </p:sp>
      <p:sp>
        <p:nvSpPr>
          <p:cNvPr id="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09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创新四：机理锚定 RUL，并给出拟合窗规则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创新四：机理锚定 RUL，并给出拟合窗规则</a:t>
            </a:r>
          </a:p>
        </p:txBody>
      </p:sp>
      <p:sp>
        <p:nvSpPr>
          <p:cNvPr id="1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不用健康指数硬外推，只外推机理量 + 趋势门控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同一告警点：5/2/1 天窗 = 269.25 / 63.30 / 46.67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真值 47.67 天 → 1 天窗误差 1.00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含噪时窗长优先：1 天 26.47 天 → 10 天 13.85 天</a:t>
            </a:r>
          </a:p>
        </p:txBody>
      </p:sp>
      <p:sp>
        <p:nvSpPr>
          <p:cNvPr id="1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10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创新五：决策层能算钱，且明确成本口径</a:t>
            </a:r>
          </a:p>
        </p:txBody>
      </p:sp>
      <p:sp>
        <p:nvSpPr>
          <p:cNvPr id="1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创新五：决策层能算钱，且明确成本口径</a:t>
            </a:r>
          </a:p>
        </p:txBody>
      </p:sp>
      <p:sp>
        <p:nvSpPr>
          <p:cNvPr id="1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对比固定周期 / 报警即处置 / RUL 驱动 / 纯失效驱动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C-MAPSS：省约 16%，15 格中胜 12 格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污泥线脱水机：省 24.5%，9 格全胜，非计划失效 0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成本参数目前为占位值，需企业现场标定</a:t>
            </a:r>
          </a:p>
        </p:txBody>
      </p:sp>
      <p:sp>
        <p:nvSpPr>
          <p:cNvPr id="1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11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七条设计原则：全部来自实验，不来自直觉</a:t>
            </a:r>
          </a:p>
        </p:txBody>
      </p:sp>
      <p:sp>
        <p:nvSpPr>
          <p:cNvPr id="1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七条设计原则：全部来自实验，不来自直觉</a:t>
            </a:r>
          </a:p>
        </p:txBody>
      </p:sp>
      <p:sp>
        <p:nvSpPr>
          <p:cNvPr id="1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① 双基线并行；② RUL 与严重度挂机理指标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③ 冻结参考域取稳态段；④ 严重度用分布位置统计量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⑤ 阈值按工况自身基线标定；⑥ 拟合窗匹配退化时标 + 趋势门控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⑦ 设备级退化用设备自身物料平衡比值监测</a:t>
            </a:r>
          </a:p>
        </p:txBody>
      </p:sp>
      <p:sp>
        <p:nvSpPr>
          <p:cNvPr id="1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12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产品形态：现场能直接用，不是论文代码</a:t>
            </a:r>
          </a:p>
        </p:txBody>
      </p:sp>
      <p:sp>
        <p:nvSpPr>
          <p:cNvPr id="1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产品形态：现场能直接用，不是论文代码</a:t>
            </a:r>
          </a:p>
        </p:txBody>
      </p:sp>
      <p:sp>
        <p:nvSpPr>
          <p:cNvPr id="1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命令行：体检 / 标定 / 告警 / 报告 / 本地工作台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本地工作台：浏览器上传 CSV → 标定基线 → 出报告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企业版报告：单文件 HTML，自带局限与复现命令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零外部依赖（只需 numpy/pandas），可离线运行</a:t>
            </a:r>
          </a:p>
        </p:txBody>
      </p:sp>
      <p:sp>
        <p:nvSpPr>
          <p:cNvPr id="1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13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当前进展：技术侧已冻结待命</a:t>
            </a:r>
          </a:p>
        </p:txBody>
      </p:sp>
      <p:graphicFrame>
        <p:nvGraphicFramePr>
          <p:cNvPr id="14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方面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状态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真实水泵台架 + 真实地铁空压机（214 天，105 个告警）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机理仿真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BSM1 闭环 + BSM2 整厂 + 污泥线脱水机闭环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独立复核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四轮跨实现复核，被指出的问题全部回写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数字可信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冻结前数字总检 30/30 通过；一键复现 39 阶段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1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14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项目亮点：创新性、社会价值、商业价值</a:t>
            </a:r>
          </a:p>
        </p:txBody>
      </p:sp>
      <p:sp>
        <p:nvSpPr>
          <p:cNvPr id="1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项目亮点：创新性、社会价值、商业价值</a:t>
            </a:r>
          </a:p>
        </p:txBody>
      </p:sp>
      <p:sp>
        <p:nvSpPr>
          <p:cNvPr id="1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创新性：三层防误报 + 设备级比值 + 机理 RUL + 诚实工程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社会价值：减少溢流与非计划停机；泥饼含固率合规预警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社会价值：不新增传感器，不增加现场改造与电子垃圾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商业价值：按设备订阅，轻资产、不垫资、可复制到供水与管网</a:t>
            </a:r>
          </a:p>
        </p:txBody>
      </p:sp>
      <p:sp>
        <p:nvSpPr>
          <p:cNvPr id="1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15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行业背景：存量巨大、政策明确、数据已就位</a:t>
            </a:r>
          </a:p>
        </p:txBody>
      </p:sp>
      <p:sp>
        <p:nvSpPr>
          <p:cNvPr id="1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行业背景：存量巨大、政策明确、数据已就位</a:t>
            </a:r>
          </a:p>
        </p:txBody>
      </p:sp>
      <p:sp>
        <p:nvSpPr>
          <p:cNvPr id="1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城市及县城污水处理厂约 4816 座（2023 城乡建设统计年鉴，待原文核实）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双碳与污水资源化政策持续加压，运维成本被盯得越来越紧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关键设备普遍缺乏预测性维护手段，仍以定期大修为主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数据已在 DCS/SCADA 里，差的是方法与工具</a:t>
            </a:r>
          </a:p>
        </p:txBody>
      </p:sp>
      <p:sp>
        <p:nvSpPr>
          <p:cNvPr id="1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16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目标用户：厂级设备科先用起来，集团统一采购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目标用户：厂级设备科先用起来，集团统一采购</a:t>
            </a:r>
          </a:p>
        </p:txBody>
      </p:sp>
      <p:sp>
        <p:nvSpPr>
          <p:cNvPr id="1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使用者：设备科 / 运维班长（看 P1/P2/P3 决定动作）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付费方：水务集团 / 地方水司（按设备数订阅）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决策链：厂级试点 → 集团技术部评估 → 统一部署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明确不做：不碰硬件、不做垫资、不承诺未标定的收益</a:t>
            </a:r>
          </a:p>
        </p:txBody>
      </p:sp>
      <p:sp>
        <p:nvSpPr>
          <p:cNvPr id="1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17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竞争格局：通用平台强在算法，弱在污水厂设备语境</a:t>
            </a:r>
          </a:p>
        </p:txBody>
      </p:sp>
      <p:graphicFrame>
        <p:nvGraphicFramePr>
          <p:cNvPr id="183" name="Table"/>
          <p:cNvGraphicFramePr>
            <a:graphicFrameLocks noGrp="1"/>
          </p:cNvGraphicFramePr>
          <p:nvPr/>
        </p:nvGraphicFramePr>
        <p:xfrm>
          <a:off x="900000" y="900000"/>
          <a:ext cx="10300000" cy="1680000"/>
        </p:xfrm>
        <a:graphic>
          <a:graphicData uri="http://schemas.openxmlformats.org/drawingml/2006/table">
            <a:tbl>
              <a:tblPr firstRow="1" bandRow="1"/>
              <a:tblGrid>
                <a:gridCol w="2575000"/>
                <a:gridCol w="2575000"/>
                <a:gridCol w="2575000"/>
                <a:gridCol w="2575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类型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强项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短板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我们的差异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国际 PdM 平台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功能全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贵、需联网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可离线、按需订阅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通用工业 IoT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工艺全景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看不见设备级退化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设备级物料平衡量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咨询式检修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经验足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不可复制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可复现的数字与工具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</a:tbl>
          </a:graphicData>
        </a:graphic>
      </p:graphicFrame>
      <p:sp>
        <p:nvSpPr>
          <p:cNvPr id="1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18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市场进入策略：一台设备、三个月、一份对照报告</a:t>
            </a:r>
          </a:p>
        </p:txBody>
      </p:sp>
      <p:sp>
        <p:nvSpPr>
          <p:cNvPr id="1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市场进入策略：一台设备、三个月、一份对照报告</a:t>
            </a:r>
          </a:p>
        </p:txBody>
      </p:sp>
      <p:sp>
        <p:nvSpPr>
          <p:cNvPr id="1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第一步：免费试点 1 台设备，出健康基线报告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第二步：回放历史故障，给出提前量与误报数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第三步：单厂多设备（鼓风机 / 脱水机 / 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渠道：水务集团技术部、设计院、设备厂商、大赛产业对接会</a:t>
            </a:r>
          </a:p>
        </p:txBody>
      </p:sp>
      <p:sp>
        <p:nvSpPr>
          <p:cNvPr id="1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19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盈利模式：软件订阅 + 接入标定服务</a:t>
            </a:r>
          </a:p>
        </p:txBody>
      </p:sp>
      <p:sp>
        <p:nvSpPr>
          <p:cNvPr id="2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盈利模式：软件订阅 + 接入标定服务</a:t>
            </a:r>
          </a:p>
        </p:txBody>
      </p:sp>
      <p:sp>
        <p:nvSpPr>
          <p:cNvPr id="2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收入一：按设备数年费订阅（定价待企业标定）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收入二：一次性接入标定与首份报告服务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收入三：集团级部署与培训（可选）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定价上限参照：单台设备一次非计划停机的损失</a:t>
            </a:r>
          </a:p>
        </p:txBody>
      </p:sp>
      <p:sp>
        <p:nvSpPr>
          <p:cNvPr id="2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20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财务预测：先给结构与假设，不编数字</a:t>
            </a:r>
          </a:p>
        </p:txBody>
      </p:sp>
      <p:sp>
        <p:nvSpPr>
          <p:cNvPr id="2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财务预测：先给结构与假设，不编数字</a:t>
            </a:r>
          </a:p>
        </p:txBody>
      </p:sp>
      <p:sp>
        <p:nvSpPr>
          <p:cNvPr id="2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成本：研发与维护、试点交付、部署与支持（轻资产）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收入：试点转付费率 × 单厂设备数 × 年费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关键指标：毛利率、获客成本、续费率、单厂回本周期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所有金额待企业成本参数标定后再填，不对外给数</a:t>
            </a:r>
          </a:p>
        </p:txBody>
      </p:sp>
      <p:sp>
        <p:nvSpPr>
          <p:cNvPr id="2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21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实施计划：技术已冻结，接下来是试点与材料</a:t>
            </a:r>
          </a:p>
        </p:txBody>
      </p:sp>
      <p:sp>
        <p:nvSpPr>
          <p:cNvPr id="2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实施计划：技术已冻结，接下来是试点与材料</a:t>
            </a:r>
          </a:p>
        </p:txBody>
      </p:sp>
      <p:sp>
        <p:nvSpPr>
          <p:cNvPr id="2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已完成：四段链路 + 两套机理仿真 + 两套真实数据验证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10/07：技术冻结（可复现包 + 文档 + 冻结 tag）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11 月：大赛产业对接会争取试点意向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2027 Q1：首个污水厂试点（1 台设备、3–6 个月对照）</a:t>
            </a:r>
          </a:p>
        </p:txBody>
      </p:sp>
      <p:sp>
        <p:nvSpPr>
          <p:cNvPr id="2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22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风险与对策：风险都写在明处</a:t>
            </a:r>
          </a:p>
        </p:txBody>
      </p:sp>
      <p:graphicFrame>
        <p:nvGraphicFramePr>
          <p:cNvPr id="23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风险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对策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拿不到真实厂数据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公开数据 + 机理仿真 + 试点意向书，不编数据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参考段不干净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工具主动告警参考窗趋势；要求多段健康期标定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标定漂移造假 RUL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多源冗余 + 独立漂移监控；RUL 只挂机理量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成本无法引用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一律标注占位值，不对外给金额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2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23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团队：技术线已具备，正在补齐水务专业与指导老师</a:t>
            </a:r>
          </a:p>
        </p:txBody>
      </p:sp>
      <p:sp>
        <p:nvSpPr>
          <p:cNvPr id="2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团队：技术线已具备，正在补齐水务专业与指导老师</a:t>
            </a:r>
          </a:p>
        </p:txBody>
      </p:sp>
      <p:sp>
        <p:nvSpPr>
          <p:cNvPr id="2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负责人：（算法、工程、材料）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拟补：给排水 / 环境专业 1 人（把关专业说法）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拟补：市场与 PPT 1 人（市场与商业内容）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指导老师：；合作资源：高校实验室 + 大赛产业导师</a:t>
            </a:r>
          </a:p>
        </p:txBody>
      </p:sp>
      <p:sp>
        <p:nvSpPr>
          <p:cNvPr id="2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24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附录：所有数字都能复现</a:t>
            </a:r>
          </a:p>
        </p:txBody>
      </p:sp>
      <p:sp>
        <p:nvSpPr>
          <p:cNvPr id="2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附录：所有数字都能复现</a:t>
            </a:r>
          </a:p>
        </p:txBody>
      </p:sp>
      <p:sp>
        <p:nvSpPr>
          <p:cNvPr id="2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线上演示：落地页 / 十节看板 / 交互式演示台 / 两份样例报告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一键复现：run_all（快速 9 阶段 / 全量 39 阶段）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口径与限定词清单：docs/08；技术细节与复核台账：PROJECT_STATE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可引用数字均标注来源文件，仿真一律标"仿真"</a:t>
            </a:r>
          </a:p>
        </p:txBody>
      </p:sp>
      <p:sp>
        <p:nvSpPr>
          <p:cNvPr id="2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25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谢谢——我们要的是一次试点机会</a:t>
            </a:r>
          </a:p>
        </p:txBody>
      </p:sp>
      <p:sp>
        <p:nvSpPr>
          <p:cNvPr id="2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谢谢——我们要的是一次试点机会</a:t>
            </a:r>
          </a:p>
        </p:txBody>
      </p:sp>
      <p:sp>
        <p:nvSpPr>
          <p:cNvPr id="2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不要"相信我们"，要一台设备、三个月、一份对照报告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试点零成本：我们出工具、出报告，贵方只需提供历史数据与检修台账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联系方式： ｜ ｜</a:t>
            </a:r>
          </a:p>
        </p:txBody>
      </p:sp>
      <p:sp>
        <p:nvSpPr>
          <p:cNvPr id="2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26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Title"/>
          <p:cNvSpPr txBox="1"/>
          <p:nvPr/>
        </p:nvSpPr>
        <p:spPr>
          <a:xfrm>
            <a:off x="1050000" y="2300000"/>
            <a:ext cx="10200000" cy="17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5200" b="1" dirty="0">
                <a:solidFill>
                  <a:srgbClr val="F4EFE6"/>
                </a:solidFill>
                <a:latin typeface="Georgia"/>
                <a:ea typeface="Georgia"/>
              </a:rPr>
              <a:t>谢谢</a:t>
            </a:r>
          </a:p>
        </p:txBody>
      </p:sp>
      <p:sp>
        <p:nvSpPr>
          <p:cNvPr id="272" name="Subtitle"/>
          <p:cNvSpPr txBox="1"/>
          <p:nvPr/>
        </p:nvSpPr>
        <p:spPr>
          <a:xfrm>
            <a:off x="1050000" y="4200000"/>
            <a:ext cx="10200000" cy="9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2000" b="1" dirty="0">
                <a:solidFill>
                  <a:srgbClr val="C9A84C"/>
                </a:solidFill>
                <a:latin typeface="Helvetica Neue"/>
                <a:ea typeface="Helvetica Neue"/>
              </a:rPr>
              <a:t>澜脉 · 污水厂设备 AI 预测性维护系统</a:t>
            </a:r>
          </a:p>
        </p:txBody>
      </p:sp>
      <p:sp>
        <p:nvSpPr>
          <p:cNvPr id="2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27 / 27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theme/theme1.xml><?xml version="1.0" encoding="utf-8"?>
<a:theme xmlns:a="http://schemas.openxmlformats.org/drawingml/2006/main" name="dsh-ppt Velvet Standard">
  <a:themeElements>
    <a:clrScheme name="dsh-ppt">
      <a:dk1>
        <a:srgbClr val="F4EFE6"/>
      </a:dk1>
      <a:lt1>
        <a:srgbClr val="111316"/>
      </a:lt1>
      <a:dk2>
        <a:srgbClr val="A79F91"/>
      </a:dk2>
      <a:lt2>
        <a:srgbClr val="1A1D22"/>
      </a:lt2>
      <a:accent1>
        <a:srgbClr val="C9A84C"/>
      </a:accent1>
      <a:accent2>
        <a:srgbClr val="3D4A63"/>
      </a:accent2>
      <a:accent3>
        <a:srgbClr val="F4EFE6"/>
      </a:accent3>
      <a:accent4>
        <a:srgbClr val="A79F91"/>
      </a:accent4>
      <a:accent5>
        <a:srgbClr val="C9A84C"/>
      </a:accent5>
      <a:accent6>
        <a:srgbClr val="3D4A63"/>
      </a:accent6>
      <a:hlink>
        <a:srgbClr val="C9A84C"/>
      </a:hlink>
      <a:folHlink>
        <a:srgbClr val="3D4A63"/>
      </a:folHlink>
    </a:clrScheme>
    <a:fontScheme name="dsh-ppt">
      <a:majorFont>
        <a:latin typeface="Georgia"/>
        <a:ea typeface=""/>
        <a:cs typeface=""/>
      </a:majorFont>
      <a:minorFont>
        <a:latin typeface="Helvetica Neue"/>
        <a:ea typeface=""/>
        <a:cs typeface=""/>
      </a:minorFont>
    </a:fontScheme>
    <a:fmtScheme name="dsh-p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</Application>
  <PresentationFormat>Widescreen</PresentationFormat>
  <Slides>27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澜脉 · 污水厂设备 AI 预测性维护系统</dc:title>
  <dc:creator>dsh-ppt</dc:creator>
  <cp:lastModifiedBy>dsh-ppt</cp:lastModifiedBy>
</cp:coreProperties>
</file>