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92" r:id="rId38"/>
    <p:sldId id="261" r:id="rId7"/>
    <p:sldId id="293" r:id="rId39"/>
    <p:sldId id="262" r:id="rId8"/>
    <p:sldId id="294" r:id="rId40"/>
    <p:sldId id="263" r:id="rId9"/>
    <p:sldId id="264" r:id="rId10"/>
    <p:sldId id="295" r:id="rId41"/>
    <p:sldId id="265" r:id="rId11"/>
    <p:sldId id="296" r:id="rId42"/>
    <p:sldId id="266" r:id="rId12"/>
    <p:sldId id="297" r:id="rId43"/>
    <p:sldId id="267" r:id="rId13"/>
    <p:sldId id="268" r:id="rId14"/>
    <p:sldId id="298" r:id="rId44"/>
    <p:sldId id="269" r:id="rId15"/>
    <p:sldId id="270" r:id="rId16"/>
    <p:sldId id="299" r:id="rId45"/>
    <p:sldId id="271" r:id="rId17"/>
    <p:sldId id="272" r:id="rId18"/>
    <p:sldId id="300" r:id="rId46"/>
    <p:sldId id="273" r:id="rId19"/>
    <p:sldId id="301" r:id="rId47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302" r:id="rId48"/>
    <p:sldId id="289" r:id="rId35"/>
    <p:sldId id="303" r:id="rId49"/>
    <p:sldId id="290" r:id="rId36"/>
    <p:sldId id="291" r:id="rId37"/>
  </p:sldIdLst>
  <p:sldSz cx="12192000" cy="6858000" type="screen16x9"/>
  <p:notesSz cx="6858000" cy="9144000"/>
</p:presentation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marL="342900" indent="-342900">
        <a:defRPr sz="2000">
          <a:solidFill>
            <a:srgbClr val="F4EFE6"/>
          </a:solidFill>
          <a:latin typeface="Helvetica Neue"/>
        </a:defRPr>
      </a:lvl1pPr>
      <a:lvl2pPr marL="685800" indent="-342900">
        <a:defRPr sz="1900">
          <a:solidFill>
            <a:srgbClr val="F4EFE6"/>
          </a:solidFill>
          <a:latin typeface="Helvetica Neue"/>
        </a:defRPr>
      </a:lvl2pPr>
      <a:lvl3pPr marL="1028700" indent="-342900">
        <a:defRPr sz="1800">
          <a:solidFill>
            <a:srgbClr val="F4EFE6"/>
          </a:solidFill>
          <a:latin typeface="Helvetica Neue"/>
        </a:defRPr>
      </a:lvl3pPr>
      <a:lvl4pPr marL="1371600" indent="-342900">
        <a:defRPr sz="1700">
          <a:solidFill>
            <a:srgbClr val="F4EFE6"/>
          </a:solidFill>
          <a:latin typeface="Helvetica Neue"/>
        </a:defRPr>
      </a:lvl4pPr>
      <a:lvl5pPr marL="1714500" indent="-342900">
        <a:defRPr sz="1600">
          <a:solidFill>
            <a:srgbClr val="F4EFE6"/>
          </a:solidFill>
          <a:latin typeface="Helvetica Neue"/>
        </a:defRPr>
      </a:lvl5pPr>
      <a:lvl6pPr marL="2057400" indent="-342900">
        <a:defRPr sz="1500">
          <a:solidFill>
            <a:srgbClr val="F4EFE6"/>
          </a:solidFill>
          <a:latin typeface="Helvetica Neue"/>
        </a:defRPr>
      </a:lvl6pPr>
      <a:lvl7pPr marL="2400300" indent="-342900">
        <a:defRPr sz="1400">
          <a:solidFill>
            <a:srgbClr val="F4EFE6"/>
          </a:solidFill>
          <a:latin typeface="Helvetica Neue"/>
        </a:defRPr>
      </a:lvl7pPr>
      <a:lvl8pPr marL="2743200" indent="-342900">
        <a:defRPr sz="1300">
          <a:solidFill>
            <a:srgbClr val="F4EFE6"/>
          </a:solidFill>
          <a:latin typeface="Helvetica Neue"/>
        </a:defRPr>
      </a:lvl8pPr>
      <a:lvl9pPr marL="3086100" indent="-342900">
        <a:defRPr sz="1200">
          <a:solidFill>
            <a:srgbClr val="F4EFE6"/>
          </a:solidFill>
          <a:latin typeface="Helvetica Neue"/>
        </a:defRPr>
      </a:lvl9pPr>
    </p:titleStyle>
    <p:bodyStyle>
      <a:lvl1pPr marL="342900" indent="-342900">
        <a:defRPr sz="2000">
          <a:solidFill>
            <a:srgbClr val="F4EFE6"/>
          </a:solidFill>
          <a:latin typeface="Helvetica Neue"/>
        </a:defRPr>
      </a:lvl1pPr>
      <a:lvl2pPr marL="685800" indent="-342900">
        <a:defRPr sz="1900">
          <a:solidFill>
            <a:srgbClr val="F4EFE6"/>
          </a:solidFill>
          <a:latin typeface="Helvetica Neue"/>
        </a:defRPr>
      </a:lvl2pPr>
      <a:lvl3pPr marL="1028700" indent="-342900">
        <a:defRPr sz="1800">
          <a:solidFill>
            <a:srgbClr val="F4EFE6"/>
          </a:solidFill>
          <a:latin typeface="Helvetica Neue"/>
        </a:defRPr>
      </a:lvl3pPr>
      <a:lvl4pPr marL="1371600" indent="-342900">
        <a:defRPr sz="1700">
          <a:solidFill>
            <a:srgbClr val="F4EFE6"/>
          </a:solidFill>
          <a:latin typeface="Helvetica Neue"/>
        </a:defRPr>
      </a:lvl4pPr>
      <a:lvl5pPr marL="1714500" indent="-342900">
        <a:defRPr sz="1600">
          <a:solidFill>
            <a:srgbClr val="F4EFE6"/>
          </a:solidFill>
          <a:latin typeface="Helvetica Neue"/>
        </a:defRPr>
      </a:lvl5pPr>
      <a:lvl6pPr marL="2057400" indent="-342900">
        <a:defRPr sz="1500">
          <a:solidFill>
            <a:srgbClr val="F4EFE6"/>
          </a:solidFill>
          <a:latin typeface="Helvetica Neue"/>
        </a:defRPr>
      </a:lvl6pPr>
      <a:lvl7pPr marL="2400300" indent="-342900">
        <a:defRPr sz="1400">
          <a:solidFill>
            <a:srgbClr val="F4EFE6"/>
          </a:solidFill>
          <a:latin typeface="Helvetica Neue"/>
        </a:defRPr>
      </a:lvl7pPr>
      <a:lvl8pPr marL="2743200" indent="-342900">
        <a:defRPr sz="1300">
          <a:solidFill>
            <a:srgbClr val="F4EFE6"/>
          </a:solidFill>
          <a:latin typeface="Helvetica Neue"/>
        </a:defRPr>
      </a:lvl8pPr>
      <a:lvl9pPr marL="3086100" indent="-342900">
        <a:defRPr sz="1200">
          <a:solidFill>
            <a:srgbClr val="F4EFE6"/>
          </a:solidFill>
          <a:latin typeface="Helvetica Neue"/>
        </a:defRPr>
      </a:lvl9pPr>
    </p:bodyStyle>
    <p:otherStyle>
      <a:lvl1pPr marL="342900" indent="-342900">
        <a:defRPr sz="2000">
          <a:solidFill>
            <a:srgbClr val="F4EFE6"/>
          </a:solidFill>
          <a:latin typeface="Helvetica Neue"/>
        </a:defRPr>
      </a:lvl1pPr>
      <a:lvl2pPr marL="685800" indent="-342900">
        <a:defRPr sz="1900">
          <a:solidFill>
            <a:srgbClr val="F4EFE6"/>
          </a:solidFill>
          <a:latin typeface="Helvetica Neue"/>
        </a:defRPr>
      </a:lvl2pPr>
      <a:lvl3pPr marL="1028700" indent="-342900">
        <a:defRPr sz="1800">
          <a:solidFill>
            <a:srgbClr val="F4EFE6"/>
          </a:solidFill>
          <a:latin typeface="Helvetica Neue"/>
        </a:defRPr>
      </a:lvl3pPr>
      <a:lvl4pPr marL="1371600" indent="-342900">
        <a:defRPr sz="1700">
          <a:solidFill>
            <a:srgbClr val="F4EFE6"/>
          </a:solidFill>
          <a:latin typeface="Helvetica Neue"/>
        </a:defRPr>
      </a:lvl4pPr>
      <a:lvl5pPr marL="1714500" indent="-342900">
        <a:defRPr sz="1600">
          <a:solidFill>
            <a:srgbClr val="F4EFE6"/>
          </a:solidFill>
          <a:latin typeface="Helvetica Neue"/>
        </a:defRPr>
      </a:lvl5pPr>
      <a:lvl6pPr marL="2057400" indent="-342900">
        <a:defRPr sz="1500">
          <a:solidFill>
            <a:srgbClr val="F4EFE6"/>
          </a:solidFill>
          <a:latin typeface="Helvetica Neue"/>
        </a:defRPr>
      </a:lvl6pPr>
      <a:lvl7pPr marL="2400300" indent="-342900">
        <a:defRPr sz="1400">
          <a:solidFill>
            <a:srgbClr val="F4EFE6"/>
          </a:solidFill>
          <a:latin typeface="Helvetica Neue"/>
        </a:defRPr>
      </a:lvl7pPr>
      <a:lvl8pPr marL="2743200" indent="-342900">
        <a:defRPr sz="1300">
          <a:solidFill>
            <a:srgbClr val="F4EFE6"/>
          </a:solidFill>
          <a:latin typeface="Helvetica Neue"/>
        </a:defRPr>
      </a:lvl8pPr>
      <a:lvl9pPr marL="3086100" indent="-342900">
        <a:defRPr sz="1200">
          <a:solidFill>
            <a:srgbClr val="F4EFE6"/>
          </a:solidFill>
          <a:latin typeface="Helvetica Neue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ccent bar"/>
          <p:cNvSpPr/>
          <p:nvPr/>
        </p:nvSpPr>
        <p:spPr>
          <a:xfrm>
            <a:off x="914400" y="2250000"/>
            <a:ext cx="240000" cy="1600000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1550000" y="2160000"/>
            <a:ext cx="9250000" cy="1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4400" b="1" dirty="0">
                <a:solidFill>
                  <a:srgbClr val="F4EFE6"/>
                </a:solidFill>
                <a:latin typeface="Georgia"/>
                <a:ea typeface="Georgia"/>
              </a:rPr>
              <a:t>澜脉 · 污水厂设备 AI 预测性维护系统</a:t>
            </a:r>
          </a:p>
        </p:txBody>
      </p:sp>
      <p:sp>
        <p:nvSpPr>
          <p:cNvPr id="13" name="Subtitle"/>
          <p:cNvSpPr txBox="1"/>
          <p:nvPr/>
        </p:nvSpPr>
        <p:spPr>
          <a:xfrm>
            <a:off x="1570000" y="4150000"/>
            <a:ext cx="9000000" cy="12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2200" b="0" dirty="0">
                <a:solidFill>
                  <a:srgbClr val="A79F91"/>
                </a:solidFill>
                <a:latin typeface="Helvetica Neue"/>
                <a:ea typeface="Helvetica Neue"/>
              </a:rPr>
              <a:t>北控水务杯第九届 · 创意转化组 · 命题 2-6 ｜ 不加任何新传感器，用厂里已有信号做设备预警与维护决策</a:t>
            </a:r>
          </a:p>
        </p:txBody>
      </p:sp>
      <p:sp>
        <p:nvSpPr>
          <p:cNvPr id="14" name="Kicker"/>
          <p:cNvSpPr txBox="1"/>
          <p:nvPr/>
        </p:nvSpPr>
        <p:spPr>
          <a:xfrm>
            <a:off x="1570000" y="5800000"/>
            <a:ext cx="7000000" cy="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开场</a:t>
            </a:r>
          </a:p>
        </p:txBody>
      </p:sp>
      <p:sp>
        <p:nvSpPr>
          <p:cNvPr id="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01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目录</a:t>
            </a:r>
          </a:p>
        </p:txBody>
      </p:sp>
      <p:sp>
        <p:nvSpPr>
          <p:cNvPr id="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目录</a:t>
            </a:r>
          </a:p>
        </p:txBody>
      </p:sp>
      <p:sp>
        <p:nvSpPr>
          <p:cNvPr id="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一、项目概述 二、产品与服务设计 三、技术创新与证据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四、产品形态与使用方式 五、行业背景与目标市场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六、竞争格局与优势 七、商业模式与财务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八、实施计划与风险 九、团队与附录</a:t>
            </a:r>
          </a:p>
        </p:txBody>
      </p:sp>
      <p:sp>
        <p:nvSpPr>
          <p:cNvPr id="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02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现状：关键设备仍是"坏了才修、到期就修"</a:t>
            </a:r>
          </a:p>
        </p:txBody>
      </p:sp>
      <p:sp>
        <p:nvSpPr>
          <p:cNvPr id="3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现状：关键设备仍是"坏了才修、到期就修"</a:t>
            </a:r>
          </a:p>
        </p:txBody>
      </p:sp>
      <p:sp>
        <p:nvSpPr>
          <p:cNvPr id="3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鼓风机、脱水机、泵：非计划停机代价高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定期大修：备件与人工浪费在没坏的设备上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电流、温度、压力、流量数据厂里本来就有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缺的是"从数据看出设备在退化"的方法与工具</a:t>
            </a:r>
          </a:p>
        </p:txBody>
      </p:sp>
      <p:sp>
        <p:nvSpPr>
          <p:cNvPr id="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03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澜脉：不加传感器，回答四个问题</a:t>
            </a:r>
          </a:p>
        </p:txBody>
      </p:sp>
      <p:sp>
        <p:nvSpPr>
          <p:cNvPr id="4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澜脉：不加传感器，回答四个问题</a:t>
            </a:r>
          </a:p>
        </p:txBody>
      </p:sp>
      <p:sp>
        <p:nvSpPr>
          <p:cNvPr id="4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有没有异常 → 是什么故障 → 还剩多久 → 何时修最省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纯软件：可离线部署，数据不出厂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面向污水厂（TO B / TO G），按设备数订阅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命题 2-6 要的是完整闭环，不是单点算法演示</a:t>
            </a:r>
          </a:p>
        </p:txBody>
      </p:sp>
      <p:sp>
        <p:nvSpPr>
          <p:cNvPr id="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04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产品：一条链路四段，每段都有可核查数字</a:t>
            </a:r>
          </a:p>
        </p:txBody>
      </p:sp>
      <p:graphicFrame>
        <p:nvGraphicFramePr>
          <p:cNvPr id="53" name="Table"/>
          <p:cNvGraphicFramePr>
            <a:graphicFrameLocks noGrp="1"/>
          </p:cNvGraphicFramePr>
          <p:nvPr/>
        </p:nvGraphicFramePr>
        <p:xfrm>
          <a:off x="900000" y="900000"/>
          <a:ext cx="10300000" cy="2100000"/>
        </p:xfrm>
        <a:graphic>
          <a:graphicData uri="http://schemas.openxmlformats.org/drawingml/2006/table">
            <a:tbl>
              <a:tblPr firstRow="1" bandRow="1"/>
              <a:tblGrid>
                <a:gridCol w="3433333"/>
                <a:gridCol w="3433333"/>
                <a:gridCol w="3433333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环节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回答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关键结果（口径见附录）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① 检测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有没有异常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双基线 + 工况条件化 + 分级告警 P1/P2/P3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② 诊断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是什么故障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CWRU 同记录/跨转速 宏F1 1.000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③ 剩余寿命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还剩多久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C-MAPSS RMSE 15.27；孪生机理 1.00–4.04 天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④ 决策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何时修最省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C-MAPSS 省约 16%；污泥线 24.5%</a:t>
                      </a:r>
                    </a:p>
                  </a:txBody>
                  <a:tcPr marL="91440" marR="91440" anchor="ctr">
                    <a:noFill/>
                  </a:tcPr>
                </a:tc>
              </a:tr>
            </a:tbl>
          </a:graphicData>
        </a:graphic>
      </p:graphicFrame>
      <p:sp>
        <p:nvSpPr>
          <p:cNvPr id="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05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检测判据长什么样：双基线 + 事件机</a:t>
            </a:r>
          </a:p>
        </p:txBody>
      </p:sp>
      <p:sp>
        <p:nvSpPr>
          <p:cNvPr id="6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检测判据长什么样：双基线 + 事件机</a:t>
            </a:r>
          </a:p>
        </p:txBody>
      </p:sp>
      <p:sp>
        <p:nvSpPr>
          <p:cNvPr id="6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冻结基线抓慢漂移，短窗自适应抓突变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事件机：连续 4 点越限进入，连续 8 点低于 0.8×阈退出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分级：P1 立即处置 / P2 复核排计划 / P3 趋势观察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严重度用分布位置比值，不用单点越限时刻</a:t>
            </a:r>
          </a:p>
        </p:txBody>
      </p:sp>
      <p:sp>
        <p:nvSpPr>
          <p:cNvPr id="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06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创新一：双基线并行，慢漂移与突变分别治理</a:t>
            </a:r>
          </a:p>
        </p:txBody>
      </p:sp>
      <p:sp>
        <p:nvSpPr>
          <p:cNvPr id="7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创新一：双基线并行，慢漂移与突变分别治理</a:t>
            </a:r>
          </a:p>
        </p:txBody>
      </p:sp>
      <p:sp>
        <p:nvSpPr>
          <p:cNvPr id="7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自适应通道对慢漂移实测完全漏检（两条独立链路复现）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同召回下误报事件比对照实现少 2.8 倍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事件机把分数变成"事件"，而不是点报警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参考域必须取稳态段：投运段做参考会误报 26/18/26 次</a:t>
            </a:r>
          </a:p>
        </p:txBody>
      </p:sp>
      <p:sp>
        <p:nvSpPr>
          <p:cNvPr id="7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07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创新二：阈值必须按工况标定，绝对阈值必然失效</a:t>
            </a:r>
          </a:p>
        </p:txBody>
      </p:sp>
      <p:sp>
        <p:nvSpPr>
          <p:cNvPr id="8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创新二：阈值必须按工况标定，绝对阈值必然失效</a:t>
            </a:r>
          </a:p>
        </p:txBody>
      </p:sp>
      <p:sp>
        <p:nvSpPr>
          <p:cNvPr id="8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换一段进水，健康本底就变，绝对阈值立刻失效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工况分箱条件化：健康轨迹最高分 19.18 → 14.86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仍不够时用同期同工况对拍差分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对拍让原始量从"检不出"变成失效前 14.5 天</a:t>
            </a:r>
          </a:p>
        </p:txBody>
      </p:sp>
      <p:sp>
        <p:nvSpPr>
          <p:cNvPr id="8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08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创新三：设备级比值通道，全厂大数据看不见的退化它看得见</a:t>
            </a:r>
          </a:p>
        </p:txBody>
      </p:sp>
      <p:sp>
        <p:nvSpPr>
          <p:cNvPr id="9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创新三：设备级比值通道，全厂大数据看不见的退化它看得见</a:t>
            </a:r>
          </a:p>
        </p:txBody>
      </p:sp>
      <p:sp>
        <p:nvSpPr>
          <p:cNvPr id="9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整厂 5 个原始量：零误报口径 86.11 天（晚于失效）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设备级比值（干固体 ÷ 湿泥饼量）：9.80 天检出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提前 37.47 天；湿泥饼量 +55.53%（理论 +55.6%）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沼气、能耗、出水几乎无痕（±0.03%）</a:t>
            </a:r>
          </a:p>
        </p:txBody>
      </p:sp>
      <p:sp>
        <p:nvSpPr>
          <p:cNvPr id="9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09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创新四：机理锚定 RUL，并给出拟合窗规则</a:t>
            </a:r>
          </a:p>
        </p:txBody>
      </p:sp>
      <p:sp>
        <p:nvSpPr>
          <p:cNvPr id="10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创新四：机理锚定 RUL，并给出拟合窗规则</a:t>
            </a:r>
          </a:p>
        </p:txBody>
      </p:sp>
      <p:sp>
        <p:nvSpPr>
          <p:cNvPr id="10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不用健康指数硬外推，只外推机理量 + 趋势门控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同一告警点：5/2/1 天窗 = 269.25 / 63.30 / 46.67 天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真值 47.67 天 → 1 天窗误差 1.00 天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含噪时窗长优先：1 天 26.47 天 → 10 天 13.85 天</a:t>
            </a:r>
          </a:p>
        </p:txBody>
      </p:sp>
      <p:sp>
        <p:nvSpPr>
          <p:cNvPr id="10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10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创新五：决策层能算钱，且明确成本口径</a:t>
            </a:r>
          </a:p>
        </p:txBody>
      </p:sp>
      <p:sp>
        <p:nvSpPr>
          <p:cNvPr id="11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创新五：决策层能算钱，且明确成本口径</a:t>
            </a:r>
          </a:p>
        </p:txBody>
      </p:sp>
      <p:sp>
        <p:nvSpPr>
          <p:cNvPr id="11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对比固定周期 / 报警即处置 / RUL 驱动 / 纯失效驱动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C-MAPSS：省约 16%，15 格中胜 12 格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污泥线脱水机：省 24.5%，9 格全胜，非计划失效 0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成本参数目前为占位值，需企业现场标定</a:t>
            </a:r>
          </a:p>
        </p:txBody>
      </p:sp>
      <p:sp>
        <p:nvSpPr>
          <p:cNvPr id="1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11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七条设计原则：全部来自实验，不来自直觉</a:t>
            </a:r>
          </a:p>
        </p:txBody>
      </p:sp>
      <p:sp>
        <p:nvSpPr>
          <p:cNvPr id="1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七条设计原则：全部来自实验，不来自直觉</a:t>
            </a:r>
          </a:p>
        </p:txBody>
      </p:sp>
      <p:sp>
        <p:nvSpPr>
          <p:cNvPr id="1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① 双基线并行；② RUL 与严重度挂机理指标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③ 冻结参考域取稳态段；④ 严重度用分布位置统计量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⑤ 阈值按工况自身基线标定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⑥ 拟合窗匹配退化时标 + 趋势门控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⑦ 设备级退化用设备自身物料平衡比值监测</a:t>
            </a:r>
          </a:p>
        </p:txBody>
      </p:sp>
      <p:sp>
        <p:nvSpPr>
          <p:cNvPr id="1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12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3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验证纪律：四轮独立复核 + 数字总检</a:t>
            </a:r>
          </a:p>
        </p:txBody>
      </p:sp>
      <p:graphicFrame>
        <p:nvGraphicFramePr>
          <p:cNvPr id="133" name="Table"/>
          <p:cNvGraphicFramePr>
            <a:graphicFrameLocks noGrp="1"/>
          </p:cNvGraphicFramePr>
          <p:nvPr/>
        </p:nvGraphicFramePr>
        <p:xfrm>
          <a:off x="900000" y="900000"/>
          <a:ext cx="10300000" cy="1680000"/>
        </p:xfrm>
        <a:graphic>
          <a:graphicData uri="http://schemas.openxmlformats.org/drawingml/2006/table">
            <a:tbl>
              <a:tblPr firstRow="1" bandRow="1"/>
              <a:tblGrid>
                <a:gridCol w="3433333"/>
                <a:gridCol w="3433333"/>
                <a:gridCol w="3433333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复核批次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内容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结果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批次 2 ｜ 4 ｜ 5 ｜ 6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由第二套独立实现复核全部关键结论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被指出的问题全部回写（含我们自己的两个口径 bug）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冻结前数字总检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每个对外数字回溯到结果文件并在文档中检索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30/30 通过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一键复现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run_all 快速 9 阶段 / 全量 39 阶段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全部通过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</a:tbl>
          </a:graphicData>
        </a:graphic>
      </p:graphicFrame>
      <p:sp>
        <p:nvSpPr>
          <p:cNvPr id="1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13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已验证 / 未验证：把边界写在明处</a:t>
            </a:r>
          </a:p>
        </p:txBody>
      </p:sp>
      <p:sp>
        <p:nvSpPr>
          <p:cNvPr id="14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已验证 / 未验证：把边界写在明处</a:t>
            </a:r>
          </a:p>
        </p:txBody>
      </p:sp>
      <p:sp>
        <p:nvSpPr>
          <p:cNvPr id="14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已实测（真实数据）：SKAB 水泵台架、MetroPT-3 地铁空压机 214 天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已闭环（机理仿真）：BSM1 标准模型、BSM2 整厂（含 ADM1 消化罐）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未验证：真实污水厂的现场数据（正在申请试点）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未做：诊断到水务设备语义的完整映射、成本参数企业标定</a:t>
            </a:r>
          </a:p>
        </p:txBody>
      </p:sp>
      <p:sp>
        <p:nvSpPr>
          <p:cNvPr id="1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14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产品形态：现场能直接用，不是论文代码</a:t>
            </a:r>
          </a:p>
        </p:txBody>
      </p:sp>
      <p:sp>
        <p:nvSpPr>
          <p:cNvPr id="15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产品形态：现场能直接用，不是论文代码</a:t>
            </a:r>
          </a:p>
        </p:txBody>
      </p:sp>
      <p:sp>
        <p:nvSpPr>
          <p:cNvPr id="15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命令行：体检 / 标定 / 告警 / 报告 / 本地工作台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本地工作台：浏览器上传 CSV → 标定基线 → 出报告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企业版报告：单文件 HTML，自带局限与复现命令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零外部依赖（只需 numpy/pandas），可离线运行</a:t>
            </a:r>
          </a:p>
        </p:txBody>
      </p:sp>
      <p:sp>
        <p:nvSpPr>
          <p:cNvPr id="1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15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使用方式（一）：四条命令跑通全流程</a:t>
            </a:r>
          </a:p>
        </p:txBody>
      </p:sp>
      <p:sp>
        <p:nvSpPr>
          <p:cNvPr id="16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使用方式（一）：四条命令跑通全流程</a:t>
            </a:r>
          </a:p>
        </p:txBody>
      </p:sp>
      <p:sp>
        <p:nvSpPr>
          <p:cNvPr id="16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体检：lanmai inspect --data 现场导出.csv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标定：lanmai calibrate --data 健康期.csv --out baseline.json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告警：lanmai watch --data 待监测.csv --baseline baseline.json --out alarms.csv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报告：lanmai report ... --out report.html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一键自检：lanmai selftest（含回归检查）</a:t>
            </a:r>
          </a:p>
        </p:txBody>
      </p:sp>
      <p:sp>
        <p:nvSpPr>
          <p:cNvPr id="1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16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3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使用方式（二）：本地工作台，浏览器里上传就能出报告</a:t>
            </a:r>
          </a:p>
        </p:txBody>
      </p:sp>
      <p:sp>
        <p:nvSpPr>
          <p:cNvPr id="17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使用方式（二）：本地工作台，浏览器里上传就能出报告</a:t>
            </a:r>
          </a:p>
        </p:txBody>
      </p:sp>
      <p:sp>
        <p:nvSpPr>
          <p:cNvPr id="17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双击 startlanmai.cmd，或 python runlanmai.py serve --open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① 上传健康期数据 → 生成 baseline.json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② 上传待监测数据 + 基线 → 生成 report.html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③ 样例一键试跑；④ 产物列表下载明细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默认只监听本机 127.0.0.1，数据不出厂</a:t>
            </a:r>
          </a:p>
        </p:txBody>
      </p:sp>
      <p:sp>
        <p:nvSpPr>
          <p:cNvPr id="17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17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3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企业版报告长什么样</a:t>
            </a:r>
          </a:p>
        </p:txBody>
      </p:sp>
      <p:sp>
        <p:nvSpPr>
          <p:cNvPr id="18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企业版报告长什么样</a:t>
            </a:r>
          </a:p>
        </p:txBody>
      </p:sp>
      <p:sp>
        <p:nvSpPr>
          <p:cNvPr id="18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数据体检：行数、采样间隔、缺失、零方差、分类列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标定摘要：参考窗、工况分层、阈值、工具告警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分级告警：P1/P2/P3 明细与处置动作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四张图 + 口径局限 + 复现命令（单文件、可离线打开）</a:t>
            </a:r>
          </a:p>
        </p:txBody>
      </p:sp>
      <p:sp>
        <p:nvSpPr>
          <p:cNvPr id="18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18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当前进展：技术侧已冻结待命</a:t>
            </a:r>
          </a:p>
        </p:txBody>
      </p:sp>
      <p:graphicFrame>
        <p:nvGraphicFramePr>
          <p:cNvPr id="193" name="Table"/>
          <p:cNvGraphicFramePr>
            <a:graphicFrameLocks noGrp="1"/>
          </p:cNvGraphicFramePr>
          <p:nvPr/>
        </p:nvGraphicFramePr>
        <p:xfrm>
          <a:off x="900000" y="900000"/>
          <a:ext cx="10300000" cy="2520000"/>
        </p:xfrm>
        <a:graphic>
          <a:graphicData uri="http://schemas.openxmlformats.org/drawingml/2006/table">
            <a:tbl>
              <a:tblPr firstRow="1" bandRow="1"/>
              <a:tblGrid>
                <a:gridCol w="5150000"/>
                <a:gridCol w="5150000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方面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状态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真实数据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真实水泵台架 + 真实地铁空压机（214 天，105 个告警）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机理仿真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BSM1 闭环 + BSM2 整厂 + 污泥线脱水机闭环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独立复核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四轮跨实现复核，被指出的问题全部回写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数字可信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冻结前数字总检 30/30；一键复现 39 阶段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交付物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说明书、商业计划书、本地工作台、企业版报告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</a:tbl>
          </a:graphicData>
        </a:graphic>
      </p:graphicFrame>
      <p:sp>
        <p:nvSpPr>
          <p:cNvPr id="19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19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项目亮点：创新性、社会价值、商业价值</a:t>
            </a:r>
          </a:p>
        </p:txBody>
      </p:sp>
      <p:sp>
        <p:nvSpPr>
          <p:cNvPr id="20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项目亮点：创新性、社会价值、商业价值</a:t>
            </a:r>
          </a:p>
        </p:txBody>
      </p:sp>
      <p:sp>
        <p:nvSpPr>
          <p:cNvPr id="20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创新性：三层防误报 + 设备级比值 + 机理 RUL + 诚实工程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社会价值：减少溢流与非计划停机；泥饼含固率合规预警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社会价值：不新增传感器，不增加现场改造与电子垃圾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商业价值：按设备订阅，轻资产、不垫资、可复制到供水与管网</a:t>
            </a:r>
          </a:p>
        </p:txBody>
      </p:sp>
      <p:sp>
        <p:nvSpPr>
          <p:cNvPr id="20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20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行业背景：存量巨大、政策明确、数据已就位</a:t>
            </a:r>
          </a:p>
        </p:txBody>
      </p:sp>
      <p:sp>
        <p:nvSpPr>
          <p:cNvPr id="21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行业背景：存量巨大、政策明确、数据已就位</a:t>
            </a:r>
          </a:p>
        </p:txBody>
      </p:sp>
      <p:sp>
        <p:nvSpPr>
          <p:cNvPr id="21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城市及县城污水处理厂约 4816 座（2023 城乡建设统计年鉴，待原文核实）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双碳与污水资源化政策持续加压，运维成本被盯得越来越紧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关键设备普遍缺乏预测性维护手段，仍以定期大修为主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数据已在 DCS/SCADA 里，差的是方法与工具</a:t>
            </a:r>
          </a:p>
        </p:txBody>
      </p:sp>
      <p:sp>
        <p:nvSpPr>
          <p:cNvPr id="2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21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3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目标用户：厂级设备科先用起来，集团统一采购</a:t>
            </a:r>
          </a:p>
        </p:txBody>
      </p:sp>
      <p:sp>
        <p:nvSpPr>
          <p:cNvPr id="2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目标用户：厂级设备科先用起来，集团统一采购</a:t>
            </a:r>
          </a:p>
        </p:txBody>
      </p:sp>
      <p:sp>
        <p:nvSpPr>
          <p:cNvPr id="2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使用者：设备科 / 运维班长（看 P1/P2/P3 决定动作）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付费方：水务集团 / 地方水司（按设备数订阅）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决策链：厂级试点 → 集团技术部评估 → 统一部署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明确不做：不碰硬件、不做垫资、不承诺未标定的收益</a:t>
            </a:r>
          </a:p>
        </p:txBody>
      </p:sp>
      <p:sp>
        <p:nvSpPr>
          <p:cNvPr id="2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22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3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细分市场规模怎么估：按"关键设备 × 存量厂"</a:t>
            </a:r>
          </a:p>
        </p:txBody>
      </p:sp>
      <p:sp>
        <p:nvSpPr>
          <p:cNvPr id="23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细分市场规模怎么估：按"关键设备 × 存量厂"</a:t>
            </a:r>
          </a:p>
        </p:txBody>
      </p:sp>
      <p:sp>
        <p:nvSpPr>
          <p:cNvPr id="23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口径一：存量厂数 × 单厂关键设备数（鼓风机/脱水机/泵）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口径二：单厂运维预算中的"非计划停机损失"占比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口径三：竞品单价区间 × 渗透率（对标工业 PdM 订阅）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三种口径都要用公开原文核实，未核实前不外报</a:t>
            </a:r>
          </a:p>
        </p:txBody>
      </p:sp>
      <p:sp>
        <p:nvSpPr>
          <p:cNvPr id="2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23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竞争格局：通用平台强在算法，弱在污水厂设备语境</a:t>
            </a:r>
          </a:p>
        </p:txBody>
      </p:sp>
      <p:graphicFrame>
        <p:nvGraphicFramePr>
          <p:cNvPr id="243" name="Table"/>
          <p:cNvGraphicFramePr>
            <a:graphicFrameLocks noGrp="1"/>
          </p:cNvGraphicFramePr>
          <p:nvPr/>
        </p:nvGraphicFramePr>
        <p:xfrm>
          <a:off x="900000" y="900000"/>
          <a:ext cx="10300000" cy="1680000"/>
        </p:xfrm>
        <a:graphic>
          <a:graphicData uri="http://schemas.openxmlformats.org/drawingml/2006/table">
            <a:tbl>
              <a:tblPr firstRow="1" bandRow="1"/>
              <a:tblGrid>
                <a:gridCol w="2575000"/>
                <a:gridCol w="2575000"/>
                <a:gridCol w="2575000"/>
                <a:gridCol w="2575000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类型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强项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短板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我们的差异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国际 PdM 平台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功能全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贵、需联网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可离线、按需订阅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通用工业 IoT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工艺全景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看不见设备级退化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设备级物料平衡量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咨询式检修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经验足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不可复制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可复现的数字与工具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</a:tbl>
          </a:graphicData>
        </a:graphic>
      </p:graphicFrame>
      <p:sp>
        <p:nvSpPr>
          <p:cNvPr id="2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24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项目竞争优势：四项别人不容易同时做到的</a:t>
            </a:r>
          </a:p>
        </p:txBody>
      </p:sp>
      <p:sp>
        <p:nvSpPr>
          <p:cNvPr id="25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项目竞争优势：四项别人不容易同时做到的</a:t>
            </a:r>
          </a:p>
        </p:txBody>
      </p:sp>
      <p:sp>
        <p:nvSpPr>
          <p:cNvPr id="25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机制把误报压下去（三层防误报，实测少 2.8 倍）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设备级退化能被发现（整厂原始量检不出 → 比值量 9.8 天）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现场能自己接数据（工具 + 工作台 + 报告，数据不出厂）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数字可核查（四轮独立复核 + 数字总检 30/30）</a:t>
            </a:r>
          </a:p>
        </p:txBody>
      </p:sp>
      <p:sp>
        <p:nvSpPr>
          <p:cNvPr id="2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25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3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市场进入策略：一台设备、三个月、一份对照报告</a:t>
            </a:r>
          </a:p>
        </p:txBody>
      </p:sp>
      <p:sp>
        <p:nvSpPr>
          <p:cNvPr id="26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市场进入策略：一台设备、三个月、一份对照报告</a:t>
            </a:r>
          </a:p>
        </p:txBody>
      </p:sp>
      <p:sp>
        <p:nvSpPr>
          <p:cNvPr id="26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第一步：免费试点 1 台设备，出健康基线报告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第二步：回放历史故障，给出提前量与误报数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第三步：单厂多设备（鼓风机 / 脱水机 / 泵）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渠道：水务集团技术部、设计院、设备厂商、大赛产业对接会</a:t>
            </a:r>
          </a:p>
        </p:txBody>
      </p:sp>
      <p:sp>
        <p:nvSpPr>
          <p:cNvPr id="2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26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盈利模式：软件订阅 + 接入标定服务</a:t>
            </a:r>
          </a:p>
        </p:txBody>
      </p:sp>
      <p:sp>
        <p:nvSpPr>
          <p:cNvPr id="27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盈利模式：软件订阅 + 接入标定服务</a:t>
            </a:r>
          </a:p>
        </p:txBody>
      </p:sp>
      <p:sp>
        <p:nvSpPr>
          <p:cNvPr id="27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收入一：按设备数年费订阅（定价待企业标定）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收入二：一次性接入标定与首份报告服务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收入三：集团级部署与培训（可选）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定价上限参照：单台设备一次非计划停机的损失</a:t>
            </a:r>
          </a:p>
        </p:txBody>
      </p:sp>
      <p:sp>
        <p:nvSpPr>
          <p:cNvPr id="27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27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7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3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财务预测：先给结构与假设，不编数字</a:t>
            </a:r>
          </a:p>
        </p:txBody>
      </p:sp>
      <p:sp>
        <p:nvSpPr>
          <p:cNvPr id="28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财务预测：先给结构与假设，不编数字</a:t>
            </a:r>
          </a:p>
        </p:txBody>
      </p:sp>
      <p:sp>
        <p:nvSpPr>
          <p:cNvPr id="28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成本：研发与维护、试点交付、部署与支持（轻资产）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收入：试点转付费率 × 单厂设备数 × 年费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关键指标：毛利率、获客成本、续费率、单厂回本周期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所有金额待企业成本参数标定后再填，不对外给数</a:t>
            </a:r>
          </a:p>
        </p:txBody>
      </p:sp>
      <p:sp>
        <p:nvSpPr>
          <p:cNvPr id="28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28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8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实施计划：技术已冻结，接下来是试点与材料</a:t>
            </a:r>
          </a:p>
        </p:txBody>
      </p:sp>
      <p:sp>
        <p:nvSpPr>
          <p:cNvPr id="29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实施计划：技术已冻结，接下来是试点与材料</a:t>
            </a:r>
          </a:p>
        </p:txBody>
      </p:sp>
      <p:sp>
        <p:nvSpPr>
          <p:cNvPr id="29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已完成：四段链路 + 两套机理仿真 + 两套真实数据验证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10/07：技术冻结（可复现包 + 文档 + 冻结 tag）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11 月：大赛产业对接会争取试点意向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2027 Q1：首个污水厂试点（1 台设备、3–6 个月对照）</a:t>
            </a:r>
          </a:p>
        </p:txBody>
      </p:sp>
      <p:sp>
        <p:nvSpPr>
          <p:cNvPr id="29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29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风险与对策：风险都写在明处</a:t>
            </a:r>
          </a:p>
        </p:txBody>
      </p:sp>
      <p:graphicFrame>
        <p:nvGraphicFramePr>
          <p:cNvPr id="303" name="Table"/>
          <p:cNvGraphicFramePr>
            <a:graphicFrameLocks noGrp="1"/>
          </p:cNvGraphicFramePr>
          <p:nvPr/>
        </p:nvGraphicFramePr>
        <p:xfrm>
          <a:off x="900000" y="900000"/>
          <a:ext cx="10300000" cy="2100000"/>
        </p:xfrm>
        <a:graphic>
          <a:graphicData uri="http://schemas.openxmlformats.org/drawingml/2006/table">
            <a:tbl>
              <a:tblPr firstRow="1" bandRow="1"/>
              <a:tblGrid>
                <a:gridCol w="5150000"/>
                <a:gridCol w="5150000"/>
              </a:tblGrid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风险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1" dirty="0">
                          <a:solidFill>
                            <a:srgbClr val="111316"/>
                          </a:solidFill>
                          <a:latin typeface="Helvetica Neue"/>
                          <a:ea typeface="Helvetica Neue"/>
                        </a:rPr>
                        <a:t>对策</a:t>
                      </a:r>
                    </a:p>
                  </a:txBody>
                  <a:tcPr marL="91440" marR="91440" anchor="ctr">
                    <a:solidFill>
                      <a:srgbClr val="C9A84C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拿不到真实厂数据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公开数据 + 机理仿真 + 试点意向书，不编数据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参考段不干净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工具主动告警参考窗趋势；要求多段健康期标定</a:t>
                      </a:r>
                    </a:p>
                  </a:txBody>
                  <a:tcPr marL="91440" marR="91440" anchor="ctr">
                    <a:noFill/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标定漂移造假 RUL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多源冗余 + 独立漂移监控；RUL 只挂机理量</a:t>
                      </a:r>
                    </a:p>
                  </a:txBody>
                  <a:tcPr marL="91440" marR="91440" anchor="ctr">
                    <a:solidFill>
                      <a:srgbClr val="1A1D22"/>
                    </a:solidFill>
                  </a:tcPr>
                </a:tc>
              </a:tr>
              <a:tr h="420000"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成本无法引用</a:t>
                      </a:r>
                    </a:p>
                  </a:txBody>
                  <a:tcPr marL="91440" marR="91440" anchor="ctr"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buNone/>
                      </a:pPr>
                      <a:r>
                        <a:rPr lang="zh-CN" sz="1400" b="0" dirty="0">
                          <a:solidFill>
                            <a:srgbClr val="F4EFE6"/>
                          </a:solidFill>
                          <a:latin typeface="Helvetica Neue"/>
                          <a:ea typeface="Helvetica Neue"/>
                        </a:rPr>
                        <a:t>一律标注占位值，不对外给金额</a:t>
                      </a:r>
                    </a:p>
                  </a:txBody>
                  <a:tcPr marL="91440" marR="91440" anchor="ctr">
                    <a:noFill/>
                  </a:tcPr>
                </a:tc>
              </a:tr>
            </a:tbl>
          </a:graphicData>
        </a:graphic>
      </p:graphicFrame>
      <p:sp>
        <p:nvSpPr>
          <p:cNvPr id="30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30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评委常问五问（应答预案）</a:t>
            </a:r>
          </a:p>
        </p:txBody>
      </p:sp>
      <p:sp>
        <p:nvSpPr>
          <p:cNvPr id="31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评委常问五问（应答预案）</a:t>
            </a:r>
          </a:p>
        </p:txBody>
      </p:sp>
      <p:sp>
        <p:nvSpPr>
          <p:cNvPr id="31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问：有真实污水厂数据吗？答：没有，正在申请；污水厂侧结论全部标注"仿真"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问：能在别的厂复现吗？答：阈值按厂标定；工具支持多段与工况分层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问：和现有算法比强在哪？答：机制层（双基线/条件化/对拍）+ 设备级比值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问：能省多少钱？答：结构可算，金额待企业参数标定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问：知识产权？答：软著在办；代码与文档可现场演示</a:t>
            </a:r>
          </a:p>
        </p:txBody>
      </p:sp>
      <p:sp>
        <p:nvSpPr>
          <p:cNvPr id="31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31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3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团队：技术线已具备，正在补齐水务专业与指导老师</a:t>
            </a:r>
          </a:p>
        </p:txBody>
      </p:sp>
      <p:sp>
        <p:nvSpPr>
          <p:cNvPr id="32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团队：技术线已具备，正在补齐水务专业与指导老师</a:t>
            </a:r>
          </a:p>
        </p:txBody>
      </p:sp>
      <p:sp>
        <p:nvSpPr>
          <p:cNvPr id="32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负责人：（算法、工程、材料）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拟补：给排水 / 环境专业 1 人（把关专业说法）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拟补：市场与 PPT 1 人（市场与商业内容）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指导老师：；合作资源：高校实验室 + 大赛产业导师</a:t>
            </a:r>
          </a:p>
        </p:txBody>
      </p:sp>
      <p:sp>
        <p:nvSpPr>
          <p:cNvPr id="32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32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3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现场试点四步走：把"相信我们"变成"看数据"</a:t>
            </a:r>
          </a:p>
        </p:txBody>
      </p:sp>
      <p:sp>
        <p:nvSpPr>
          <p:cNvPr id="33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现场试点四步走：把"相信我们"变成"看数据"</a:t>
            </a:r>
          </a:p>
        </p:txBody>
      </p:sp>
      <p:sp>
        <p:nvSpPr>
          <p:cNvPr id="33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第 1 步：选 1 台设备，取 ≥12 个月数据 + 检修台账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第 2 步：用无故障健康段标定基线（工具告警参考窗趋势）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第 3 步：用含故障历史段回放，算提前量与误报数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第 4 步：在线运行 + 月度报告 + 季度复盘扩设备</a:t>
            </a:r>
          </a:p>
        </p:txBody>
      </p:sp>
      <p:sp>
        <p:nvSpPr>
          <p:cNvPr id="33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33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3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3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附录：所有数字都能复现</a:t>
            </a:r>
          </a:p>
        </p:txBody>
      </p:sp>
      <p:sp>
        <p:nvSpPr>
          <p:cNvPr id="34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附录：所有数字都能复现</a:t>
            </a:r>
          </a:p>
        </p:txBody>
      </p:sp>
      <p:sp>
        <p:nvSpPr>
          <p:cNvPr id="34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线上演示：落地页 / 十节看板 / 交互式演示台 / 两份样例报告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一键复现：run_all（快速 9 阶段 / 全量 39 阶段）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说明书：deliverables/澜脉_项目说明书.html（38 张图）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口径与限定词：docs/08；技术细节与复核台账：PROJECT_STATE</a:t>
            </a:r>
          </a:p>
        </p:txBody>
      </p:sp>
      <p:sp>
        <p:nvSpPr>
          <p:cNvPr id="34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34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4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3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Kicker"/>
          <p:cNvSpPr txBox="1"/>
          <p:nvPr/>
        </p:nvSpPr>
        <p:spPr>
          <a:xfrm>
            <a:off x="900000" y="420000"/>
            <a:ext cx="10000000" cy="42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1400" b="1" dirty="0">
                <a:solidFill>
                  <a:srgbClr val="C9A84C"/>
                </a:solidFill>
                <a:latin typeface="Helvetica Neue"/>
                <a:ea typeface="Helvetica Neue"/>
              </a:rPr>
              <a:t>谢谢——我们要的是一次试点机会</a:t>
            </a:r>
          </a:p>
        </p:txBody>
      </p:sp>
      <p:sp>
        <p:nvSpPr>
          <p:cNvPr id="352" name="Title"/>
          <p:cNvSpPr txBox="1"/>
          <p:nvPr/>
        </p:nvSpPr>
        <p:spPr>
          <a:xfrm>
            <a:off x="900000" y="920000"/>
            <a:ext cx="10300000" cy="8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>
              <a:buNone/>
            </a:pPr>
            <a:r>
              <a:rPr lang="zh-CN" sz="3400" b="1" dirty="0">
                <a:solidFill>
                  <a:srgbClr val="F4EFE6"/>
                </a:solidFill>
                <a:latin typeface="Georgia"/>
                <a:ea typeface="Georgia"/>
              </a:rPr>
              <a:t>谢谢——我们要的是一次试点机会</a:t>
            </a:r>
          </a:p>
        </p:txBody>
      </p:sp>
      <p:sp>
        <p:nvSpPr>
          <p:cNvPr id="353" name="Body"/>
          <p:cNvSpPr txBox="1"/>
          <p:nvPr/>
        </p:nvSpPr>
        <p:spPr>
          <a:xfrm>
            <a:off x="1050000" y="1850000"/>
            <a:ext cx="10100000" cy="45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不要"相信我们"，要一台设备、三个月、一份对照报告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试点零成本：我们出工具、出报告，贵方只需提供历史数据与检修台账</a:t>
            </a:r>
          </a:p>
          <a:p>
            <a:pPr marL="285750" indent="-285750">
              <a:buFont typeface="Arial" panose="020B0604020202020204"/>
              <a:buChar char="•"/>
            </a:pPr>
            <a:r>
              <a:rPr lang="zh-CN" sz="2000" b="0" dirty="0">
                <a:solidFill>
                  <a:srgbClr val="F4EFE6"/>
                </a:solidFill>
                <a:latin typeface="Helvetica Neue"/>
                <a:ea typeface="Helvetica Neue"/>
              </a:rPr>
              <a:t>联系方式： ｜ ｜</a:t>
            </a:r>
          </a:p>
        </p:txBody>
      </p:sp>
      <p:sp>
        <p:nvSpPr>
          <p:cNvPr id="35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35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presetID="1" presetClass="entr" presetSubtype="0" fill="hold" grpId="0" nodeType="click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5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3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13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Title"/>
          <p:cNvSpPr txBox="1"/>
          <p:nvPr/>
        </p:nvSpPr>
        <p:spPr>
          <a:xfrm>
            <a:off x="1050000" y="2300000"/>
            <a:ext cx="10200000" cy="17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ctr">
              <a:buNone/>
            </a:pPr>
            <a:r>
              <a:rPr lang="zh-CN" sz="5200" b="1" dirty="0">
                <a:solidFill>
                  <a:srgbClr val="F4EFE6"/>
                </a:solidFill>
                <a:latin typeface="Georgia"/>
                <a:ea typeface="Georgia"/>
              </a:rPr>
              <a:t>谢谢</a:t>
            </a:r>
          </a:p>
        </p:txBody>
      </p:sp>
      <p:sp>
        <p:nvSpPr>
          <p:cNvPr id="362" name="Subtitle"/>
          <p:cNvSpPr txBox="1"/>
          <p:nvPr/>
        </p:nvSpPr>
        <p:spPr>
          <a:xfrm>
            <a:off x="1050000" y="4200000"/>
            <a:ext cx="10200000" cy="9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ctr">
              <a:buNone/>
            </a:pPr>
            <a:r>
              <a:rPr lang="zh-CN" sz="2000" b="1" dirty="0">
                <a:solidFill>
                  <a:srgbClr val="C9A84C"/>
                </a:solidFill>
                <a:latin typeface="Helvetica Neue"/>
                <a:ea typeface="Helvetica Neue"/>
              </a:rPr>
              <a:t>澜脉 · 污水厂设备 AI 预测性维护系统</a:t>
            </a:r>
          </a:p>
        </p:txBody>
      </p:sp>
      <p:sp>
        <p:nvSpPr>
          <p:cNvPr id="369" name="Page number"/>
          <p:cNvSpPr txBox="1"/>
          <p:nvPr/>
        </p:nvSpPr>
        <p:spPr>
          <a:xfrm>
            <a:off x="10600000" y="6250000"/>
            <a:ext cx="1200000" cy="400000"/>
          </a:xfrm>
          <a:prstGeom prst="rect">
            <a:avLst/>
          </a:prstGeom>
          <a:noFill/>
          <a:ln/>
        </p:spPr>
        <p:txBody>
          <a:bodyPr wrap="square" rtlCol="0">
            <a:normAutofit/>
          </a:bodyPr>
          <a:lstStyle/>
          <a:p>
            <a:pPr algn="r">
              <a:buNone/>
            </a:pPr>
            <a:r>
              <a:rPr lang="zh-CN" sz="1000" b="0" dirty="0">
                <a:solidFill>
                  <a:srgbClr val="A79F91"/>
                </a:solidFill>
                <a:latin typeface="Helvetica Neue"/>
                <a:ea typeface="Helvetica Neue"/>
              </a:rPr>
              <a:t>36 / 36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B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37844"/>
            <a:ext cx="10728960" cy="4096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四段链路：检测 → 诊断 → 剩余寿命 → 维护决策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C_criter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35380"/>
            <a:ext cx="10728960" cy="39014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检测判据：双基线分数 + 事件机 + P1/P2/P3 分级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sm1_4in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940" y="731520"/>
            <a:ext cx="6802120" cy="4709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数字孪生闭环四图：注入退化 → 检测 → RUL → 决策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sm2_route_b_det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5644" y="731520"/>
            <a:ext cx="7220712" cy="4709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BSM2 整厂：原始量检不出，设备级比值通道 9.80 天检出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udge_lin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0784" y="731520"/>
            <a:ext cx="8790432" cy="4709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污泥线闭环：含固率、湿泥饼量、滤液 TSS 与检测分数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udge_d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43812"/>
            <a:ext cx="10728960" cy="308457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维护策略对比：RUL 驱动相对最优固定周期省 24.5%（占位成本）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ures_4in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4940" y="731520"/>
            <a:ext cx="6802120" cy="4709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真实数据四图：误报-召回 / 策略成本 / 敏感性 / RUL 散点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_demo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0702" y="731520"/>
            <a:ext cx="3390595" cy="4709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十节演示看板（在线可看）：从检测到决策的全部结果与口径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_work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5603" y="731520"/>
            <a:ext cx="4520793" cy="4709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本地工作台：浏览器上传 CSV → 标定基线 → 出报告，数据不出本机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8_report_metro_al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0065" y="731520"/>
            <a:ext cx="3531870" cy="4709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企业版报告·分级告警明细（P1/P2/P3 与处置动作）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gE_p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525524"/>
            <a:ext cx="10728960" cy="312115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现场试点（POC）四步：选设备 → 标定 → 历史回放 → 在线运行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_report_metrop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0702" y="731520"/>
            <a:ext cx="3390595" cy="47091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5612130"/>
            <a:ext cx="10728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334455"/>
                </a:solidFill>
              </a:rPr>
              <a:t>样例报告（真实空压机 214 天）：105 个告警，P1 56 / P2 30 / P3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sh-ppt Velvet Standard">
  <a:themeElements>
    <a:clrScheme name="dsh-ppt">
      <a:dk1>
        <a:srgbClr val="F4EFE6"/>
      </a:dk1>
      <a:lt1>
        <a:srgbClr val="111316"/>
      </a:lt1>
      <a:dk2>
        <a:srgbClr val="A79F91"/>
      </a:dk2>
      <a:lt2>
        <a:srgbClr val="1A1D22"/>
      </a:lt2>
      <a:accent1>
        <a:srgbClr val="C9A84C"/>
      </a:accent1>
      <a:accent2>
        <a:srgbClr val="3D4A63"/>
      </a:accent2>
      <a:accent3>
        <a:srgbClr val="F4EFE6"/>
      </a:accent3>
      <a:accent4>
        <a:srgbClr val="A79F91"/>
      </a:accent4>
      <a:accent5>
        <a:srgbClr val="C9A84C"/>
      </a:accent5>
      <a:accent6>
        <a:srgbClr val="3D4A63"/>
      </a:accent6>
      <a:hlink>
        <a:srgbClr val="C9A84C"/>
      </a:hlink>
      <a:folHlink>
        <a:srgbClr val="3D4A63"/>
      </a:folHlink>
    </a:clrScheme>
    <a:fontScheme name="dsh-ppt">
      <a:majorFont>
        <a:latin typeface="Georgia"/>
        <a:ea typeface=""/>
        <a:cs typeface=""/>
      </a:majorFont>
      <a:minorFont>
        <a:latin typeface="Helvetica Neue"/>
        <a:ea typeface=""/>
        <a:cs typeface=""/>
      </a:minorFont>
    </a:fontScheme>
    <a:fmtScheme name="dsh-pp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dsh-ppt</Application>
  <PresentationFormat>Widescreen</PresentationFormat>
  <Slides>36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澜脉 · 污水厂设备 AI 预测性维护系统</dc:title>
  <dc:creator>dsh-ppt</dc:creator>
  <cp:lastModifiedBy>dsh-ppt</cp:lastModifiedBy>
</cp:coreProperties>
</file>