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webp" ContentType="image/webp"/>
  <Override PartName="/ppt/media/image13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16772978" r:id="rId4"/>
    <p:sldId id="16772973" r:id="rId5"/>
    <p:sldId id="16772974" r:id="rId6"/>
    <p:sldId id="16772986" r:id="rId7"/>
    <p:sldId id="16772976" r:id="rId8"/>
    <p:sldId id="16772985" r:id="rId9"/>
    <p:sldId id="16772977" r:id="rId10"/>
    <p:sldId id="16772980" r:id="rId11"/>
    <p:sldId id="16772983" r:id="rId12"/>
    <p:sldId id="16772987" r:id="rId13"/>
    <p:sldId id="16772992" r:id="rId14"/>
    <p:sldId id="16772993" r:id="rId15"/>
    <p:sldId id="16772997" r:id="rId16"/>
    <p:sldId id="16772994" r:id="rId17"/>
    <p:sldId id="16772998" r:id="rId18"/>
    <p:sldId id="16772999" r:id="rId19"/>
    <p:sldId id="16772996" r:id="rId20"/>
    <p:sldId id="16773001" r:id="rId21"/>
    <p:sldId id="16773002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3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108" y="32"/>
      </p:cViewPr>
      <p:guideLst>
        <p:guide orient="horz" pos="2172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69D2AC-BCE0-4945-B07D-9FE6FBDBE3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067B0-DF82-4073-BFB4-29F939ECBC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0.webp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webp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964" y="4805893"/>
            <a:ext cx="2000036" cy="21954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957" y="369870"/>
            <a:ext cx="5667080" cy="5769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49505" y="2432574"/>
            <a:ext cx="2492990" cy="19928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800" b="1">
                <a:solidFill>
                  <a:srgbClr val="1250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澜脉 · 污水厂设备 AI 预测性维护系统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100000">
                    <a:srgbClr val="0070C0"/>
                  </a:gs>
                  <a:gs pos="0">
                    <a:srgbClr val="70AD47"/>
                  </a:gs>
                </a:gsLst>
                <a:lin ang="10800000" scaled="1"/>
                <a:tileRect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r>
              <a:rPr sz="1600" b="0">
                <a:solidFill>
                  <a:srgbClr val="3146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商业计划书（创意转化组 · 命题方向 2-6）</a:t>
            </a:r>
            <a:endParaRPr sz="1600" b="0">
              <a:solidFill>
                <a:srgbClr val="3146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140" y="95949"/>
            <a:ext cx="5780926" cy="8650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0" y="5809027"/>
            <a:ext cx="3719245" cy="94297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12684" y="1897225"/>
            <a:ext cx="1481496" cy="988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 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6550" y="1187369"/>
            <a:ext cx="2773680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srgbClr val="002060"/>
                </a:solidFill>
              </a:rPr>
              <a:t>项目概述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产品</a:t>
            </a:r>
            <a:r>
              <a:rPr lang="en-US" altLang="zh-CN" sz="2400" dirty="0">
                <a:solidFill>
                  <a:prstClr val="white"/>
                </a:solidFill>
              </a:rPr>
              <a:t>/</a:t>
            </a:r>
            <a:r>
              <a:rPr lang="zh-CN" altLang="en-US" sz="2400" dirty="0">
                <a:solidFill>
                  <a:prstClr val="white"/>
                </a:solidFill>
              </a:rPr>
              <a:t>服务设计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市场营销分析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实施计划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风险分析与对策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附录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项目概述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5155" y="1234440"/>
            <a:ext cx="6217285" cy="3047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zh-CN" altLang="en-US"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市政污水厂的鼓风机、脱水机、泵类等关键设备目前多依赖定期检修与故障后抢修，健康状态无法量化，突发停机常以溢流或出水超标的形式暴露；而电流、温度、压力、流量等测点其实早已被 </a:t>
            </a:r>
            <a:r>
              <a:rPr lang="en-US" altLang="zh-CN"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DCS/SCADA </a:t>
            </a:r>
            <a:r>
              <a:rPr lang="zh-CN" altLang="en-US"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长期采集，真正缺的是把已有数据变成维护结论的方法与工具。本项目面向市政污水厂（</a:t>
            </a:r>
            <a:r>
              <a:rPr lang="en-US" altLang="zh-CN"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TOB / TOG），</a:t>
            </a:r>
            <a:r>
              <a:rPr lang="zh-CN" altLang="en-US"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交付设备健康管理软件与接入标定服务：纯软件、可离线部署、数据不出厂，在不新增传感器、不改动现场工艺的前提下提前发现设备退化并给出维护时机，输出「检测 → 诊断 → 剩余寿命 → 维护决策」的完整闭环。市场侧，国内污水处理已进入以存量运行为主阶段，设备基数大、服役年限长，预测性维护渗透率仍低而数字化条件已经具备，项目可由单厂单设备试点复制到多设备、多厂，并横向扩展到供水厂与管网泵站。</a:t>
            </a:r>
            <a:endParaRPr lang="zh-CN" altLang="en-US" sz="14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7126605" y="1342390"/>
            <a:ext cx="4761865" cy="30854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核心产品</a:t>
            </a:r>
            <a:r>
              <a:rPr lang="en-US" altLang="zh-CN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/</a:t>
            </a:r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服务</a:t>
            </a:r>
            <a:endParaRPr lang="zh-CN" altLang="en-US" dirty="0"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348740"/>
            <a:ext cx="10951845" cy="381762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检测：双基线（冻结抓慢漂移 + 短窗自适应抓突变）+ 工况条件化 → 分级告警 P1/P2/P3</a:t>
            </a:r>
            <a:endParaRPr sz="14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诊断：CWRU 基准迁移，同记录/跨转速 宏F1 1.000（跨故障尺寸 0.536，边界已标注）</a:t>
            </a:r>
            <a:endParaRPr sz="14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剩余寿命：机理量外推 + 趋势门控 + 拟合窗匹配；孪生场景误差 1.00–4.04 天</a:t>
            </a:r>
            <a:endParaRPr sz="14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决策：RUL 驱动排程 vs 固定周期；C-MAPSS 省约 16%（12/15 格），污泥线脱水机省 24.5%（9/9 格）</a:t>
            </a:r>
            <a:endParaRPr sz="14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交付形态：命令行工具 + 本地网页工作台 + 企业版报告（单文件 HTML）</a:t>
            </a:r>
            <a:endParaRPr sz="14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figB_pipeline.png"/>
          <p:cNvPicPr>
            <a:picLocks noChangeAspect="1"/>
          </p:cNvPicPr>
          <p:nvPr/>
        </p:nvPicPr>
        <p:blipFill>
          <a:blip r:embed="rId3"/>
          <a:srcRect t="10465"/>
          <a:stretch>
            <a:fillRect/>
          </a:stretch>
        </p:blipFill>
        <p:spPr>
          <a:xfrm>
            <a:off x="605155" y="2911475"/>
            <a:ext cx="8193405" cy="2801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10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产品迭代计划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6600" y="1492885"/>
            <a:ext cx="7238365" cy="317055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just">
              <a:lnSpc>
                <a:spcPct val="150000"/>
              </a:lnSpc>
              <a:spcAft>
                <a:spcPts val="600"/>
              </a:spcAft>
              <a:buSzPts val="1400"/>
              <a:buFont typeface="Wingdings" panose="05000000000000000000" pitchFamily="2" charset="2"/>
              <a:buNone/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短期（1 年内）：接入首个污水厂试点（1 台设备）→ 用真实数据校准阈值与工况分层；补齐诊断到水务设备语义的映射。</a:t>
            </a:r>
            <a:endParaRPr lang="zh-CN" altLang="zh-CN" kern="100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中期（3 年）：扩展至鼓风机/脱水机/泵等多设备类型；增加多源冗余（在线密度计 + 实验室）与独立漂移监控模块。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长期（5 年）：从「单厂工具」演进为「集团级设备健康平台」，支持多厂复制与统一看板。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项目亮点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234440"/>
            <a:ext cx="5394960" cy="2907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spcAft>
                <a:spcPts val="600"/>
              </a:spcAft>
              <a:buSzPts val="1400"/>
              <a:buFont typeface="Wingdings" panose="05000000000000000000" pitchFamily="2" charset="2"/>
              <a:buNone/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创新性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：三层防误报（双基线 / 工况条件化 / 同期同工况对拍）+ 设备级物料平衡比值监测 + 机理锚定 RUL + 诚实工程（四轮独立复核、数字总检）。</a:t>
            </a:r>
            <a:endParaRPr lang="zh-CN" altLang="zh-CN" kern="100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社会价值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：减少非计划停机与溢流风险；泥饼含固率不达标的合规预警；不新增传感器，不增加现场改造负担。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：按设备数订阅，轻资产、不垫资；可复制到供水与管网泵站。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关键证据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：整厂尺度原始量 86.11 天仍检不出 → 设备级比值通道 9.80 天检出、提前 37.47 天。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bsm2_route_b_det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472979"/>
            <a:ext cx="5577840" cy="3637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140" y="95949"/>
            <a:ext cx="5780926" cy="8650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0" y="5809027"/>
            <a:ext cx="3719245" cy="94297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12684" y="1897225"/>
            <a:ext cx="1481496" cy="988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 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6550" y="1187369"/>
            <a:ext cx="2773680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457200" marR="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white"/>
                </a:solidFill>
              </a:rPr>
              <a:t>项目概述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产品</a:t>
            </a:r>
            <a:r>
              <a:rPr lang="en-US" altLang="zh-CN" sz="2400" dirty="0">
                <a:solidFill>
                  <a:prstClr val="white"/>
                </a:solidFill>
              </a:rPr>
              <a:t>/</a:t>
            </a:r>
            <a:r>
              <a:rPr lang="zh-CN" altLang="en-US" sz="2400" dirty="0">
                <a:solidFill>
                  <a:prstClr val="white"/>
                </a:solidFill>
              </a:rPr>
              <a:t>服务设计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2060"/>
                </a:solidFill>
              </a:rPr>
              <a:t>市场营销分析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实施计划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风险分析与对策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附录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行业背景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234440"/>
            <a:ext cx="5941695" cy="302450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>
              <a:spcAft>
                <a:spcPts val="600"/>
              </a:spcAft>
              <a:buSzPts val="1400"/>
            </a:pPr>
            <a:r>
              <a:rPr lang="zh-CN" altLang="en-US"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我国城市及县城污水处理厂约 4816 座（2023 年城乡建设统计年鉴），存量规模庞大且多数已运行多年；在双碳目标与污水资源化要求持续加压下，水厂运维成本与出水合规压力同步上升，而关键设备仍以「定期大修 + 坏了才修」为主，健康状态不可量化，故障往往以停机、溢流或出水超标的形式暴露。与此同时，电流、功率、温度、压力、流量、转速等运行数据其实已经躺在 </a:t>
            </a:r>
            <a:r>
              <a:rPr lang="en-US" altLang="zh-CN"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DCS/SCADA </a:t>
            </a:r>
            <a:r>
              <a:rPr lang="zh-CN" altLang="en-US"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的历史趋势里，真正缺的是把已有数据转化为维护结论的方法与工具。针对上述问题，本项目以</a:t>
            </a:r>
            <a:r>
              <a:rPr lang="zh-CN"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赛题要求</a:t>
            </a:r>
            <a:r>
              <a:rPr lang="zh-CN" altLang="en-US"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为导向，面向市政污水厂研发了本项目。在不新增传感器、不改动现场工艺的前提下，用厂里已有的测点数据提前发现设备退化并给出维护时机，形成「检测 → 诊断 → 剩余寿命 → 维护决策」的完整闭环，并配套让现场真正把数据接进来的标定工具、企业版报告与本地工作台</a:t>
            </a:r>
            <a:endParaRPr lang="zh-CN" altLang="en-US"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3"/>
          <a:srcRect l="7222" b="9160"/>
          <a:stretch>
            <a:fillRect/>
          </a:stretch>
        </p:blipFill>
        <p:spPr>
          <a:xfrm>
            <a:off x="6991350" y="1234440"/>
            <a:ext cx="4723765" cy="31692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目标市场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234440"/>
            <a:ext cx="5793740" cy="1553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使用者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：厂级设备科 / 运维班长（依据 P1/P2/P3 决定动作）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付费方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：水务集团 / 地方水司的生产技术部或设备管理部门。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决策链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：厂级试点 → 集团技术部评估 → 集团统一部署。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典型客户特征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：有明确运维考核指标（非计划停机、能耗、药耗），且愿意做小范围试点。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项目竞争优势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198745" cy="229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机制层面把误报压下去：同召回下误报事件比对照实现少 2.8 倍（三层防误报）。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能发现别人看不见的设备级退化：整厂原始量检不出 → 设备级比值量 9.80 天检出。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现场能自己接数据：命令行 + 本地工作台 + 企业版报告，零外部依赖、可离线、数据不出厂。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数字可核查：四轮跨实现独立复核 + 冻结前数字总检 30/30 + 一键复现 39 阶段。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303" y="1116965"/>
            <a:ext cx="5255895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23164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市场进入策略</a:t>
            </a:r>
            <a:endParaRPr lang="zh-CN" altLang="en-US" dirty="0"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394960" cy="2291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第一步：免费试点 1 台设备（建议鼓风机或污泥脱水机），出健康基线报告。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第二步：用含故障的历史段回放，给出「提前量 / 误报数」对照报告 —— 用数据而不是演示说服客户。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第三步：单厂多设备推广（鼓风机 / 脱水机 / 泵），再进入集团多厂复制。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切入渠道：水务集团技术部、市政设计院、设备厂商配套、大赛产业对接会。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figE_poc.png"/>
          <p:cNvPicPr>
            <a:picLocks noChangeAspect="1"/>
          </p:cNvPicPr>
          <p:nvPr/>
        </p:nvPicPr>
        <p:blipFill>
          <a:blip r:embed="rId3"/>
          <a:srcRect t="10241"/>
          <a:stretch>
            <a:fillRect/>
          </a:stretch>
        </p:blipFill>
        <p:spPr>
          <a:xfrm>
            <a:off x="2620010" y="3683635"/>
            <a:ext cx="6715125" cy="17532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140" y="95949"/>
            <a:ext cx="5780926" cy="8650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0" y="5809027"/>
            <a:ext cx="3719245" cy="94297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12684" y="1897225"/>
            <a:ext cx="1481496" cy="988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 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6550" y="1187369"/>
            <a:ext cx="2773680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457200" marR="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white"/>
                </a:solidFill>
              </a:rPr>
              <a:t>项目概述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产品</a:t>
            </a:r>
            <a:r>
              <a:rPr lang="en-US" altLang="zh-CN" sz="2400" dirty="0">
                <a:solidFill>
                  <a:prstClr val="white"/>
                </a:solidFill>
              </a:rPr>
              <a:t>/</a:t>
            </a:r>
            <a:r>
              <a:rPr lang="zh-CN" altLang="en-US" sz="2400" dirty="0">
                <a:solidFill>
                  <a:prstClr val="white"/>
                </a:solidFill>
              </a:rPr>
              <a:t>服务设计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市场营销分析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2060"/>
                </a:solidFill>
              </a:rPr>
              <a:t>实施计划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风险分析与对策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附录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当前进展</a:t>
            </a:r>
            <a:endParaRPr lang="zh-CN" altLang="en-US" dirty="0"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234440"/>
            <a:ext cx="5394960" cy="2661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spcAft>
                <a:spcPts val="600"/>
              </a:spcAft>
              <a:buSzPts val="1400"/>
              <a:buFont typeface="Wingdings" panose="05000000000000000000" pitchFamily="2" charset="2"/>
              <a:buNone/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技术侧已冻结待命：四段链路 + 两套机理仿真（BSM1 / BSM2 整厂）+ 两套真实数据验证（水泵台架 / 地铁空压机 214 天）。</a:t>
            </a:r>
            <a:endParaRPr lang="zh-CN" altLang="zh-CN" kern="100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可信度建设：四轮跨实现独立复核（问题全部回写）+ 冻结前数字总检 30/30 + 一键复现 39 阶段。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交付物：项目说明书（Word）、商业计划书（PPT）、本地工作台、线上演示页。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待补：真实污水厂试点数据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Picture 6" descr="s6_workbench.png"/>
          <p:cNvPicPr>
            <a:picLocks noChangeAspect="1"/>
          </p:cNvPicPr>
          <p:nvPr/>
        </p:nvPicPr>
        <p:blipFill>
          <a:blip r:embed="rId3"/>
          <a:srcRect l="15071" r="14141" b="23280"/>
          <a:stretch>
            <a:fillRect/>
          </a:stretch>
        </p:blipFill>
        <p:spPr>
          <a:xfrm>
            <a:off x="6647815" y="1076960"/>
            <a:ext cx="4388485" cy="49542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未来里程碑</a:t>
            </a:r>
            <a:endParaRPr lang="zh-CN" altLang="en-US" dirty="0"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234440"/>
            <a:ext cx="5572760" cy="190436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 algn="l">
              <a:lnSpc>
                <a:spcPct val="150000"/>
              </a:lnSpc>
              <a:spcAft>
                <a:spcPts val="600"/>
              </a:spcAft>
              <a:buSzPts val="1400"/>
              <a:buFont typeface="Wingdings" panose="05000000000000000000" pitchFamily="2" charset="2"/>
              <a:buNone/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sz="160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月：技术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冻结（可复现包 + 文档 + 冻结 tag）。</a:t>
            </a:r>
            <a:endParaRPr lang="zh-CN" altLang="zh-CN" kern="100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月</a:t>
            </a:r>
            <a:r>
              <a:rPr lang="zh-CN"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大赛产业对接会，争取 1 个污水厂试点意向。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2027 </a:t>
            </a:r>
            <a:r>
              <a:rPr lang="zh-CN"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年内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：首个污水厂试点上线（1 台设备、3–6 个月对照）。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</a:t>
            </a:r>
            <a:r>
              <a:rPr lang="en-US"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年内：扩展至单厂多设备，并完成首批付费客户签约。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140" y="95949"/>
            <a:ext cx="5780926" cy="8650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0" y="5809027"/>
            <a:ext cx="3719245" cy="94297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12684" y="1897225"/>
            <a:ext cx="1481496" cy="988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 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96550" y="1187369"/>
            <a:ext cx="4602480" cy="3969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457200" marR="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white"/>
                </a:solidFill>
              </a:rPr>
              <a:t>项目概述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产品</a:t>
            </a:r>
            <a:r>
              <a:rPr lang="en-US" altLang="zh-CN" sz="2400" dirty="0">
                <a:solidFill>
                  <a:prstClr val="white"/>
                </a:solidFill>
              </a:rPr>
              <a:t>/</a:t>
            </a:r>
            <a:r>
              <a:rPr lang="zh-CN" altLang="en-US" sz="2400" dirty="0">
                <a:solidFill>
                  <a:prstClr val="white"/>
                </a:solidFill>
              </a:rPr>
              <a:t>服务设计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市场营销分析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商业模式和财务分析（如有）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实施计划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2060"/>
                </a:solidFill>
              </a:rPr>
              <a:t>风险分析与对策</a:t>
            </a:r>
            <a:endParaRPr lang="en-US" altLang="zh-CN" sz="2400" dirty="0">
              <a:solidFill>
                <a:srgbClr val="002060"/>
              </a:solidFill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附录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主要风险</a:t>
            </a:r>
            <a:endParaRPr lang="zh-CN" altLang="en-US" dirty="0"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234440"/>
            <a:ext cx="5394960" cy="19685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spcAft>
                <a:spcPts val="600"/>
              </a:spcAft>
              <a:buSzPts val="1400"/>
              <a:buFont typeface="Wingdings" panose="05000000000000000000" pitchFamily="2" charset="2"/>
              <a:buNone/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技术风险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：真实厂数据缺失导致阈值无法现场标定；传感器标定漂移可能造成假 RUL。</a:t>
            </a:r>
            <a:endParaRPr lang="zh-CN" altLang="zh-CN" kern="100" dirty="0">
              <a:solidFill>
                <a:schemeClr val="bg2">
                  <a:lumMod val="50000"/>
                </a:schemeClr>
              </a:solidFill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市场风险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：客户对「预测性维护」付费意愿需验证；集团采购周期长。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数据风险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：现场数据质量（缺失、工况列不规范）影响检出效果。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25312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应对措施</a:t>
            </a:r>
            <a:endParaRPr lang="zh-CN" altLang="en-US" dirty="0"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5394960" cy="196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：试点前用历史段回放验证；标定漂移用多源冗余（在线密度计 + 实验室）+ 独立漂移监控压制；RUL 只挂机理量并带趋势门控。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：先做免费试点，用「提前量 / 误报数」对照报告说话；以单厂为最小付费单元降低决策门槛。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：接入前先体检（缺失率、零方差、参考窗趋势），并要求多段健康期标定。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140" y="95949"/>
            <a:ext cx="5780926" cy="86505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580" y="5809027"/>
            <a:ext cx="3719245" cy="94297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12684" y="1897225"/>
            <a:ext cx="1481496" cy="9883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目 录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33507" y="1199479"/>
            <a:ext cx="4602480" cy="39693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457200" marR="0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defRPr/>
            </a:pPr>
            <a:r>
              <a:rPr lang="zh-CN" altLang="en-US" sz="2400" dirty="0">
                <a:solidFill>
                  <a:prstClr val="white"/>
                </a:solidFill>
              </a:rPr>
              <a:t>项目概述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产品</a:t>
            </a:r>
            <a:r>
              <a:rPr lang="en-US" altLang="zh-CN" sz="2400" dirty="0">
                <a:solidFill>
                  <a:prstClr val="white"/>
                </a:solidFill>
              </a:rPr>
              <a:t>/</a:t>
            </a:r>
            <a:r>
              <a:rPr lang="zh-CN" altLang="en-US" sz="2400" dirty="0">
                <a:solidFill>
                  <a:prstClr val="white"/>
                </a:solidFill>
              </a:rPr>
              <a:t>服务设计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市场营销分析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商业模式和财务分析（如有）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实施计划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white"/>
                </a:solidFill>
              </a:rPr>
              <a:t>风险分析与对策</a:t>
            </a:r>
            <a:endParaRPr lang="en-US" altLang="zh-CN" sz="2400" dirty="0">
              <a:solidFill>
                <a:prstClr val="white"/>
              </a:solidFill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srgbClr val="002060"/>
                </a:solidFill>
              </a:rPr>
              <a:t>附录</a:t>
            </a:r>
            <a:endParaRPr lang="zh-CN" alt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36308"/>
            <a:ext cx="12192000" cy="142169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0963" y="17822"/>
            <a:ext cx="5251037" cy="53457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4887" y="55359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>
                <a:gradFill>
                  <a:gsLst>
                    <a:gs pos="0">
                      <a:srgbClr val="00B050"/>
                    </a:gs>
                    <a:gs pos="100000">
                      <a:srgbClr val="0070C0"/>
                    </a:gs>
                  </a:gsLst>
                  <a:lin ang="10800000" scaled="1"/>
                </a:gradFill>
              </a:rPr>
              <a:t>附录</a:t>
            </a:r>
            <a:endParaRPr lang="zh-CN" altLang="en-US" dirty="0">
              <a:gradFill>
                <a:gsLst>
                  <a:gs pos="0">
                    <a:srgbClr val="00B050"/>
                  </a:gs>
                  <a:gs pos="100000">
                    <a:srgbClr val="0070C0"/>
                  </a:gs>
                </a:gsLst>
                <a:lin ang="10800000" scaled="1"/>
              </a:gra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1654" y="1116840"/>
            <a:ext cx="3427565" cy="45719"/>
          </a:xfrm>
          <a:prstGeom prst="rect">
            <a:avLst/>
          </a:prstGeom>
          <a:gradFill>
            <a:gsLst>
              <a:gs pos="100000">
                <a:srgbClr val="F5DDA0">
                  <a:alpha val="0"/>
                </a:srgbClr>
              </a:gs>
              <a:gs pos="0">
                <a:srgbClr val="1D93E0">
                  <a:alpha val="0"/>
                </a:srgbClr>
              </a:gs>
              <a:gs pos="58000">
                <a:srgbClr val="F5DDA0"/>
              </a:gs>
              <a:gs pos="29000">
                <a:srgbClr val="1D93E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5800" y="1234440"/>
            <a:ext cx="5394960" cy="2045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spcAft>
                <a:spcPts val="600"/>
              </a:spcAft>
              <a:buSzPts val="1400"/>
              <a:buFont typeface="Times New Roman" panose="02020603050405020304" pitchFamily="18" charset="0"/>
              <a:buNone/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：项目说明书（Word，38 图）、商业计划书（本 PPT）、本地工作台、企业版报告。</a:t>
            </a:r>
            <a:endParaRPr lang="zh-CN" altLang="zh-CN" sz="2400" b="1" dirty="0">
              <a:solidFill>
                <a:schemeClr val="bg2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在线演示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：落地页 / 十节看板 / 交互式数字孪生演示台 / 两份真实样例报告（GitHub Pages）。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可复现</a:t>
            </a:r>
            <a:r>
              <a:rPr sz="1600" b="0">
                <a:solidFill>
                  <a:srgbClr val="1B27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：run_all（快速 9 阶段 / 全量 39 阶段）+ 四轮独立复核台账 + 冻结前数字总检 30/30。</a:t>
            </a: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Aft>
                <a:spcPts val="600"/>
              </a:spcAft>
            </a:pPr>
            <a:endParaRPr sz="1600" b="0">
              <a:solidFill>
                <a:srgbClr val="1B27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964" y="4805893"/>
            <a:ext cx="2000036" cy="21954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8957" y="369870"/>
            <a:ext cx="5667080" cy="5769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570480" y="2363164"/>
            <a:ext cx="8721333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4000" b="1" dirty="0">
                <a:gradFill flip="none" rotWithShape="1">
                  <a:gsLst>
                    <a:gs pos="100000">
                      <a:srgbClr val="0070C0"/>
                    </a:gs>
                    <a:gs pos="0">
                      <a:srgbClr val="70AD47"/>
                    </a:gs>
                  </a:gsLst>
                  <a:lin ang="10800000" scaled="1"/>
                  <a:tileRect/>
                </a:gradFill>
                <a:latin typeface="微软雅黑" panose="020B0503020204020204" charset="-122"/>
                <a:ea typeface="微软雅黑" panose="020B0503020204020204" charset="-122"/>
              </a:rPr>
              <a:t>请各位评委老师批评指正</a:t>
            </a:r>
            <a:endParaRPr lang="zh-CN" altLang="en-US" sz="4000" b="1" dirty="0">
              <a:gradFill flip="none" rotWithShape="1">
                <a:gsLst>
                  <a:gs pos="100000">
                    <a:srgbClr val="0070C0"/>
                  </a:gs>
                  <a:gs pos="0">
                    <a:srgbClr val="70AD47"/>
                  </a:gs>
                </a:gsLst>
                <a:lin ang="10800000" scaled="1"/>
                <a:tileRect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2777</Words>
  <Application>WPS 演示</Application>
  <PresentationFormat>宽屏</PresentationFormat>
  <Paragraphs>135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等线</vt:lpstr>
      <vt:lpstr>Calibri</vt:lpstr>
      <vt:lpstr>Times New Roman</vt:lpstr>
      <vt:lpstr>Arial Unicode MS</vt:lpstr>
      <vt:lpstr>等线 Light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董宇格</dc:creator>
  <cp:lastModifiedBy>英熊</cp:lastModifiedBy>
  <cp:revision>14</cp:revision>
  <dcterms:created xsi:type="dcterms:W3CDTF">2025-04-14T07:38:00Z</dcterms:created>
  <dcterms:modified xsi:type="dcterms:W3CDTF">2026-09-25T17:00:07Z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EEAF409C1D0942D5A06C149C86FF84AC_12</vt:lpwstr>
  </property>
</Properties>
</file>