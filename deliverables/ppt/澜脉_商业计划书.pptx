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  <p:sldId id="16772978" r:id="rId3"/>
    <p:sldId id="16772973" r:id="rId4"/>
    <p:sldId id="16772974" r:id="rId6"/>
    <p:sldId id="16772975" r:id="rId7"/>
    <p:sldId id="16772986" r:id="rId8"/>
    <p:sldId id="16772976" r:id="rId9"/>
    <p:sldId id="16772985" r:id="rId10"/>
    <p:sldId id="16772977" r:id="rId11"/>
    <p:sldId id="16772980" r:id="rId12"/>
    <p:sldId id="16772981" r:id="rId13"/>
    <p:sldId id="16772982" r:id="rId14"/>
    <p:sldId id="16772983" r:id="rId15"/>
    <p:sldId id="16772987" r:id="rId16"/>
    <p:sldId id="16772988" r:id="rId17"/>
    <p:sldId id="16772989" r:id="rId18"/>
    <p:sldId id="16772984" r:id="rId19"/>
    <p:sldId id="16772990" r:id="rId20"/>
    <p:sldId id="16772991" r:id="rId21"/>
    <p:sldId id="16772992" r:id="rId22"/>
    <p:sldId id="16772993" r:id="rId23"/>
    <p:sldId id="16772997" r:id="rId24"/>
    <p:sldId id="16772994" r:id="rId25"/>
    <p:sldId id="16772998" r:id="rId26"/>
    <p:sldId id="16772999" r:id="rId27"/>
    <p:sldId id="16772995" r:id="rId28"/>
    <p:sldId id="16773000" r:id="rId29"/>
    <p:sldId id="16772996" r:id="rId30"/>
    <p:sldId id="16773001" r:id="rId31"/>
    <p:sldId id="16773002" r:id="rId3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23" autoAdjust="0"/>
    <p:restoredTop sz="94660"/>
  </p:normalViewPr>
  <p:slideViewPr>
    <p:cSldViewPr snapToGrid="0" showGuides="1">
      <p:cViewPr varScale="1">
        <p:scale>
          <a:sx n="68" d="100"/>
          <a:sy n="68" d="100"/>
        </p:scale>
        <p:origin x="108" y="3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50424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/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93890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84357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69D2AC-BCE0-4945-B07D-9FE6FBDBE345}" type="datetimeFigureOut">
              <a:rPr lang="zh-CN" altLang="en-US" smtClean="0"/>
              <a:t>2025/4/14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B067B0-DF82-4073-BFB4-29F939ECBC4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632957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69D2AC-BCE0-4945-B07D-9FE6FBDBE345}" type="datetimeFigureOut">
              <a:rPr lang="zh-CN" altLang="en-US" smtClean="0"/>
              <a:t>2025/4/14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B067B0-DF82-4073-BFB4-29F939ECBC4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711885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69D2AC-BCE0-4945-B07D-9FE6FBDBE345}" type="datetimeFigureOut">
              <a:rPr lang="zh-CN" altLang="en-US" smtClean="0"/>
              <a:t>2025/4/14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B067B0-DF82-4073-BFB4-29F939ECBC4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722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69D2AC-BCE0-4945-B07D-9FE6FBDBE345}" type="datetimeFigureOut">
              <a:rPr lang="zh-CN" altLang="en-US" smtClean="0"/>
              <a:t>2025/4/14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B067B0-DF82-4073-BFB4-29F939ECBC4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317045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69D2AC-BCE0-4945-B07D-9FE6FBDBE345}" type="datetimeFigureOut">
              <a:rPr lang="zh-CN" altLang="en-US" smtClean="0"/>
              <a:t>2025/4/14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B067B0-DF82-4073-BFB4-29F939ECBC4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387806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69D2AC-BCE0-4945-B07D-9FE6FBDBE345}" type="datetimeFigureOut">
              <a:rPr lang="zh-CN" altLang="en-US" smtClean="0"/>
              <a:t>2025/4/14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B067B0-DF82-4073-BFB4-29F939ECBC4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883582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69D2AC-BCE0-4945-B07D-9FE6FBDBE345}" type="datetimeFigureOut">
              <a:rPr lang="zh-CN" altLang="en-US" smtClean="0"/>
              <a:t>2025/4/14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B067B0-DF82-4073-BFB4-29F939ECBC4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026954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69D2AC-BCE0-4945-B07D-9FE6FBDBE345}" type="datetimeFigureOut">
              <a:rPr lang="zh-CN" altLang="en-US" smtClean="0"/>
              <a:t>2025/4/14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B067B0-DF82-4073-BFB4-29F939ECBC4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9511744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E69D2AC-BCE0-4945-B07D-9FE6FBDBE345}" type="datetimeFigureOut">
              <a:rPr lang="zh-CN" altLang="en-US" smtClean="0"/>
              <a:t>2025/4/14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3B067B0-DF82-4073-BFB4-29F939ECBC4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352033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4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964" y="4805893"/>
            <a:ext cx="2000036" cy="2195402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58957" y="369870"/>
            <a:ext cx="5667080" cy="576934"/>
          </a:xfrm>
          <a:prstGeom prst="rect">
            <a:avLst/>
          </a:prstGeom>
        </p:spPr>
      </p:pic>
      <p:sp>
        <p:nvSpPr>
          <p:cNvPr id="6" name="文本框 5"/>
          <p:cNvSpPr txBox="1"/>
          <p:nvPr/>
        </p:nvSpPr>
        <p:spPr>
          <a:xfrm>
            <a:off x="4849505" y="2432574"/>
            <a:ext cx="2492990" cy="19928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5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sz="2800" b="1">
                <a:solidFill>
                  <a:srgbClr val="12507B"/>
                </a:solidFill>
                <a:latin typeface="微软雅黑"/>
                <a:ea typeface="微软雅黑"/>
                <a:cs typeface="微软雅黑"/>
              </a:rPr>
              <a:t>澜脉 · 污水厂设备 AI 预测性维护系统</a:t>
            </a:r>
            <a:endParaRPr kumimoji="0" lang="en-US" altLang="zh-CN" sz="4000" b="1" i="0" u="none" strike="noStrike" kern="1200" cap="none" spc="0" normalizeH="0" baseline="0" noProof="0" dirty="0">
              <a:ln>
                <a:noFill/>
              </a:ln>
              <a:gradFill flip="none" rotWithShape="1">
                <a:gsLst>
                  <a:gs pos="100000">
                    <a:srgbClr val="0070C0"/>
                  </a:gs>
                  <a:gs pos="0">
                    <a:srgbClr val="70AD47"/>
                  </a:gs>
                </a:gsLst>
                <a:lin ang="10800000" scaled="1"/>
                <a:tileRect/>
              </a:gra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r>
              <a:rPr sz="1600" b="0">
                <a:solidFill>
                  <a:srgbClr val="31465A"/>
                </a:solidFill>
                <a:latin typeface="微软雅黑"/>
                <a:ea typeface="微软雅黑"/>
                <a:cs typeface="微软雅黑"/>
              </a:rPr>
              <a:t>商业计划书（创意转化组 · 命题方向 2-6）</a:t>
            </a:r>
          </a:p>
        </p:txBody>
      </p:sp>
    </p:spTree>
    <p:extLst>
      <p:ext uri="{BB962C8B-B14F-4D97-AF65-F5344CB8AC3E}">
        <p14:creationId xmlns:p14="http://schemas.microsoft.com/office/powerpoint/2010/main" val="26838875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26140" y="95949"/>
            <a:ext cx="5780926" cy="865053"/>
          </a:xfrm>
          <a:prstGeom prst="rect">
            <a:avLst/>
          </a:prstGeom>
        </p:spPr>
      </p:pic>
      <p:pic>
        <p:nvPicPr>
          <p:cNvPr id="3" name="图片 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6580" y="5809027"/>
            <a:ext cx="3719245" cy="942971"/>
          </a:xfrm>
          <a:prstGeom prst="rect">
            <a:avLst/>
          </a:prstGeom>
        </p:spPr>
      </p:pic>
      <p:sp>
        <p:nvSpPr>
          <p:cNvPr id="4" name="文本框 3"/>
          <p:cNvSpPr txBox="1"/>
          <p:nvPr/>
        </p:nvSpPr>
        <p:spPr>
          <a:xfrm>
            <a:off x="1212684" y="1897225"/>
            <a:ext cx="1481496" cy="98834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4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目 录</a:t>
            </a:r>
            <a:endParaRPr kumimoji="0" lang="zh-CN" altLang="en-US" sz="18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64ACE34-6F90-4F57-AF43-66FF01CC7965}"/>
              </a:ext>
            </a:extLst>
          </p:cNvPr>
          <p:cNvSpPr txBox="1"/>
          <p:nvPr/>
        </p:nvSpPr>
        <p:spPr>
          <a:xfrm>
            <a:off x="4196550" y="1187369"/>
            <a:ext cx="4647426" cy="44590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>
              <a:defRPr sz="2800" b="1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marL="457200" marR="0" lvl="0" indent="-45720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n"/>
              <a:tabLst/>
              <a:defRPr/>
            </a:pPr>
            <a:r>
              <a:rPr lang="zh-CN" altLang="en-US" sz="2400" dirty="0">
                <a:solidFill>
                  <a:srgbClr val="002060"/>
                </a:solidFill>
              </a:rPr>
              <a:t>项目概述</a:t>
            </a:r>
            <a:endParaRPr kumimoji="0" lang="en-US" altLang="zh-CN" sz="2400" b="1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457200" lvl="0" indent="-45720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2400" dirty="0">
                <a:solidFill>
                  <a:prstClr val="white"/>
                </a:solidFill>
              </a:rPr>
              <a:t>产品</a:t>
            </a:r>
            <a:r>
              <a:rPr lang="en-US" altLang="zh-CN" sz="2400" dirty="0">
                <a:solidFill>
                  <a:prstClr val="white"/>
                </a:solidFill>
              </a:rPr>
              <a:t>/</a:t>
            </a:r>
            <a:r>
              <a:rPr lang="zh-CN" altLang="en-US" sz="2400" dirty="0">
                <a:solidFill>
                  <a:prstClr val="white"/>
                </a:solidFill>
              </a:rPr>
              <a:t>服务设计</a:t>
            </a:r>
            <a:endParaRPr lang="en-US" altLang="zh-CN" sz="2400" dirty="0">
              <a:solidFill>
                <a:prstClr val="white"/>
              </a:solidFill>
            </a:endParaRPr>
          </a:p>
          <a:p>
            <a:pPr marL="457200" lvl="0" indent="-45720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2400" dirty="0">
                <a:solidFill>
                  <a:prstClr val="white"/>
                </a:solidFill>
              </a:rPr>
              <a:t>市场营销分析</a:t>
            </a:r>
            <a:endParaRPr lang="en-US" altLang="zh-CN" sz="2400" dirty="0">
              <a:solidFill>
                <a:prstClr val="white"/>
              </a:solidFill>
            </a:endParaRPr>
          </a:p>
          <a:p>
            <a:pPr marL="457200" lvl="0" indent="-45720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2400" dirty="0">
                <a:solidFill>
                  <a:prstClr val="white"/>
                </a:solidFill>
              </a:rPr>
              <a:t>商业模式和财务分析（如有）</a:t>
            </a:r>
            <a:endParaRPr lang="en-US" altLang="zh-CN" sz="2400" dirty="0">
              <a:solidFill>
                <a:prstClr val="white"/>
              </a:solidFill>
            </a:endParaRPr>
          </a:p>
          <a:p>
            <a:pPr marL="457200" lvl="0" indent="-45720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2400" dirty="0">
                <a:solidFill>
                  <a:prstClr val="white"/>
                </a:solidFill>
              </a:rPr>
              <a:t>实施计划</a:t>
            </a:r>
            <a:endParaRPr lang="en-US" altLang="zh-CN" sz="2400" dirty="0">
              <a:solidFill>
                <a:prstClr val="white"/>
              </a:solidFill>
            </a:endParaRPr>
          </a:p>
          <a:p>
            <a:pPr marL="457200" lvl="0" indent="-45720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2400" dirty="0">
                <a:solidFill>
                  <a:prstClr val="white"/>
                </a:solidFill>
              </a:rPr>
              <a:t>风险分析与对策</a:t>
            </a:r>
            <a:endParaRPr lang="en-US" altLang="zh-CN" sz="2400" dirty="0">
              <a:solidFill>
                <a:prstClr val="white"/>
              </a:solidFill>
            </a:endParaRPr>
          </a:p>
          <a:p>
            <a:pPr marL="457200" lvl="0" indent="-45720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2400" dirty="0">
                <a:solidFill>
                  <a:prstClr val="white"/>
                </a:solidFill>
              </a:rPr>
              <a:t>公司</a:t>
            </a:r>
            <a:r>
              <a:rPr lang="en-US" altLang="zh-CN" sz="2400" dirty="0">
                <a:solidFill>
                  <a:prstClr val="white"/>
                </a:solidFill>
              </a:rPr>
              <a:t>/</a:t>
            </a:r>
            <a:r>
              <a:rPr lang="zh-CN" altLang="en-US" sz="2400" dirty="0">
                <a:solidFill>
                  <a:prstClr val="white"/>
                </a:solidFill>
              </a:rPr>
              <a:t>团队介绍</a:t>
            </a:r>
            <a:endParaRPr lang="en-US" altLang="zh-CN" sz="2400" dirty="0">
              <a:solidFill>
                <a:prstClr val="white"/>
              </a:solidFill>
            </a:endParaRPr>
          </a:p>
          <a:p>
            <a:pPr marL="457200" lvl="0" indent="-45720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2400" dirty="0">
                <a:solidFill>
                  <a:prstClr val="white"/>
                </a:solidFill>
              </a:rPr>
              <a:t>附录</a:t>
            </a:r>
            <a:endParaRPr kumimoji="0" lang="zh-CN" altLang="en-US" sz="24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294633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436308"/>
            <a:ext cx="12192000" cy="1421692"/>
          </a:xfrm>
          <a:prstGeom prst="rect">
            <a:avLst/>
          </a:prstGeom>
        </p:spPr>
      </p:pic>
      <p:pic>
        <p:nvPicPr>
          <p:cNvPr id="3" name="图片 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40963" y="17822"/>
            <a:ext cx="5251037" cy="534579"/>
          </a:xfrm>
          <a:prstGeom prst="rect">
            <a:avLst/>
          </a:prstGeom>
        </p:spPr>
      </p:pic>
      <p:sp>
        <p:nvSpPr>
          <p:cNvPr id="4" name="文本框 3">
            <a:extLst>
              <a:ext uri="{FF2B5EF4-FFF2-40B4-BE49-F238E27FC236}">
                <a16:creationId xmlns:a16="http://schemas.microsoft.com/office/drawing/2014/main" id="{AB6CA7E9-597E-40CF-B350-BC562B495A39}"/>
              </a:ext>
            </a:extLst>
          </p:cNvPr>
          <p:cNvSpPr txBox="1"/>
          <p:nvPr/>
        </p:nvSpPr>
        <p:spPr>
          <a:xfrm>
            <a:off x="604887" y="553592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>
              <a:defRPr sz="2800" b="1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800" b="1" i="0" u="none" strike="noStrike" kern="1200" cap="none" spc="0" normalizeH="0" baseline="0" noProof="0" dirty="0">
                <a:ln>
                  <a:noFill/>
                </a:ln>
                <a:gradFill>
                  <a:gsLst>
                    <a:gs pos="0">
                      <a:srgbClr val="00B050"/>
                    </a:gs>
                    <a:gs pos="100000">
                      <a:srgbClr val="0070C0"/>
                    </a:gs>
                  </a:gsLst>
                  <a:lin ang="10800000" scaled="1"/>
                </a:gra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项目概述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EB6C8A42-BE34-494B-9350-03DF35F7857A}"/>
              </a:ext>
            </a:extLst>
          </p:cNvPr>
          <p:cNvSpPr/>
          <p:nvPr/>
        </p:nvSpPr>
        <p:spPr>
          <a:xfrm>
            <a:off x="541654" y="1116840"/>
            <a:ext cx="3427565" cy="45719"/>
          </a:xfrm>
          <a:prstGeom prst="rect">
            <a:avLst/>
          </a:prstGeom>
          <a:gradFill>
            <a:gsLst>
              <a:gs pos="100000">
                <a:srgbClr val="F5DDA0">
                  <a:alpha val="0"/>
                </a:srgbClr>
              </a:gs>
              <a:gs pos="0">
                <a:srgbClr val="1D93E0">
                  <a:alpha val="0"/>
                </a:srgbClr>
              </a:gs>
              <a:gs pos="58000">
                <a:srgbClr val="F5DDA0"/>
              </a:gs>
              <a:gs pos="29000">
                <a:srgbClr val="1D93E0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559C571E-2FA9-4838-899A-80D7F51F4533}"/>
              </a:ext>
            </a:extLst>
          </p:cNvPr>
          <p:cNvSpPr/>
          <p:nvPr/>
        </p:nvSpPr>
        <p:spPr>
          <a:xfrm>
            <a:off x="685800" y="1234440"/>
            <a:ext cx="5394960" cy="39319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 algn="just">
              <a:lnSpc>
                <a:spcPct val="150000"/>
              </a:lnSpc>
              <a:spcAft>
                <a:spcPts val="600"/>
              </a:spcAft>
              <a:buFont typeface="Wingdings" panose="05000000000000000000" pitchFamily="2" charset="2"/>
              <a:buChar char=""/>
            </a:pPr>
            <a:r>
              <a:rPr sz="135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· 一句话核心：不加任何新传感器，用厂里已有的电流/温度/压力/流量数据，提前发现设备退化并给出维护时机。</a:t>
            </a:r>
            <a:endParaRPr lang="zh-CN" altLang="zh-CN" sz="1400" kern="100" dirty="0">
              <a:solidFill>
                <a:schemeClr val="bg2">
                  <a:lumMod val="50000"/>
                </a:schemeClr>
              </a:solidFill>
              <a:effectLst/>
              <a:latin typeface="Calibri" panose="020F0502020204030204" pitchFamily="34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>
              <a:spcAft>
                <a:spcPts val="600"/>
              </a:spcAft>
            </a:pPr>
            <a:r>
              <a:rPr sz="135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· 项目定位：面向市政污水厂（TO B / TO G）的设备健康管理软件 + 接入标定服务；纯软件、可离线部署、数据不出厂。</a:t>
            </a:r>
          </a:p>
          <a:p>
            <a:pPr>
              <a:spcAft>
                <a:spcPts val="600"/>
              </a:spcAft>
            </a:pPr>
            <a:r>
              <a:rPr sz="135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· 对应命题 2-6：交付「检测 → 诊断 → 剩余寿命 → 维护决策」完整闭环，而非单点算法演示。</a:t>
            </a:r>
          </a:p>
          <a:p>
            <a:pPr>
              <a:spcAft>
                <a:spcPts val="600"/>
              </a:spcAft>
            </a:pPr>
            <a:r>
              <a:rPr sz="135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· 市场前景：存量污水厂设备普遍缺乏预测性维护手段，数据已在 DCS/SCADA 中，缺方法与工具。</a:t>
            </a:r>
          </a:p>
        </p:txBody>
      </p:sp>
    </p:spTree>
    <p:extLst>
      <p:ext uri="{BB962C8B-B14F-4D97-AF65-F5344CB8AC3E}">
        <p14:creationId xmlns:p14="http://schemas.microsoft.com/office/powerpoint/2010/main" val="20809211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26140" y="95949"/>
            <a:ext cx="5780926" cy="865053"/>
          </a:xfrm>
          <a:prstGeom prst="rect">
            <a:avLst/>
          </a:prstGeom>
        </p:spPr>
      </p:pic>
      <p:pic>
        <p:nvPicPr>
          <p:cNvPr id="3" name="图片 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6580" y="5809027"/>
            <a:ext cx="3719245" cy="942971"/>
          </a:xfrm>
          <a:prstGeom prst="rect">
            <a:avLst/>
          </a:prstGeom>
        </p:spPr>
      </p:pic>
      <p:sp>
        <p:nvSpPr>
          <p:cNvPr id="4" name="文本框 3"/>
          <p:cNvSpPr txBox="1"/>
          <p:nvPr/>
        </p:nvSpPr>
        <p:spPr>
          <a:xfrm>
            <a:off x="1212684" y="1897225"/>
            <a:ext cx="1481496" cy="98834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4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目 录</a:t>
            </a:r>
            <a:endParaRPr kumimoji="0" lang="zh-CN" altLang="en-US" sz="18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64ACE34-6F90-4F57-AF43-66FF01CC7965}"/>
              </a:ext>
            </a:extLst>
          </p:cNvPr>
          <p:cNvSpPr txBox="1"/>
          <p:nvPr/>
        </p:nvSpPr>
        <p:spPr>
          <a:xfrm>
            <a:off x="4196550" y="1187369"/>
            <a:ext cx="4647426" cy="44590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>
              <a:defRPr sz="2800" b="1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marL="457200" marR="0" indent="-457200" fontAlgn="auto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n"/>
              <a:tabLst/>
              <a:defRPr/>
            </a:pPr>
            <a:r>
              <a:rPr lang="zh-CN" altLang="en-US" sz="2400" dirty="0">
                <a:solidFill>
                  <a:prstClr val="white"/>
                </a:solidFill>
              </a:rPr>
              <a:t>项目概述</a:t>
            </a:r>
            <a:endParaRPr lang="en-US" altLang="zh-CN" sz="2400" dirty="0">
              <a:solidFill>
                <a:prstClr val="white"/>
              </a:solidFill>
            </a:endParaRP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2400" dirty="0">
                <a:solidFill>
                  <a:srgbClr val="002060"/>
                </a:solidFill>
              </a:rPr>
              <a:t>产品</a:t>
            </a:r>
            <a:r>
              <a:rPr lang="en-US" altLang="zh-CN" sz="2400" dirty="0">
                <a:solidFill>
                  <a:srgbClr val="002060"/>
                </a:solidFill>
              </a:rPr>
              <a:t>/</a:t>
            </a:r>
            <a:r>
              <a:rPr lang="zh-CN" altLang="en-US" sz="2400" dirty="0">
                <a:solidFill>
                  <a:srgbClr val="002060"/>
                </a:solidFill>
              </a:rPr>
              <a:t>服务设计</a:t>
            </a:r>
            <a:endParaRPr lang="en-US" altLang="zh-CN" sz="2400" dirty="0">
              <a:solidFill>
                <a:srgbClr val="002060"/>
              </a:solidFill>
            </a:endParaRPr>
          </a:p>
          <a:p>
            <a:pPr marL="457200" lvl="0" indent="-45720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2400" dirty="0">
                <a:solidFill>
                  <a:prstClr val="white"/>
                </a:solidFill>
              </a:rPr>
              <a:t>市场营销分析</a:t>
            </a:r>
            <a:endParaRPr lang="en-US" altLang="zh-CN" sz="2400" dirty="0">
              <a:solidFill>
                <a:prstClr val="white"/>
              </a:solidFill>
            </a:endParaRPr>
          </a:p>
          <a:p>
            <a:pPr marL="457200" lvl="0" indent="-45720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2400" dirty="0">
                <a:solidFill>
                  <a:prstClr val="white"/>
                </a:solidFill>
              </a:rPr>
              <a:t>商业模式和财务分析（如有）</a:t>
            </a:r>
            <a:endParaRPr lang="en-US" altLang="zh-CN" sz="2400" dirty="0">
              <a:solidFill>
                <a:prstClr val="white"/>
              </a:solidFill>
            </a:endParaRPr>
          </a:p>
          <a:p>
            <a:pPr marL="457200" lvl="0" indent="-45720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2400" dirty="0">
                <a:solidFill>
                  <a:prstClr val="white"/>
                </a:solidFill>
              </a:rPr>
              <a:t>实施计划</a:t>
            </a:r>
            <a:endParaRPr lang="en-US" altLang="zh-CN" sz="2400" dirty="0">
              <a:solidFill>
                <a:prstClr val="white"/>
              </a:solidFill>
            </a:endParaRPr>
          </a:p>
          <a:p>
            <a:pPr marL="457200" lvl="0" indent="-45720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2400" dirty="0">
                <a:solidFill>
                  <a:prstClr val="white"/>
                </a:solidFill>
              </a:rPr>
              <a:t>风险分析与对策</a:t>
            </a:r>
            <a:endParaRPr lang="en-US" altLang="zh-CN" sz="2400" dirty="0">
              <a:solidFill>
                <a:prstClr val="white"/>
              </a:solidFill>
            </a:endParaRPr>
          </a:p>
          <a:p>
            <a:pPr marL="457200" lvl="0" indent="-45720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2400" dirty="0">
                <a:solidFill>
                  <a:prstClr val="white"/>
                </a:solidFill>
              </a:rPr>
              <a:t>公司</a:t>
            </a:r>
            <a:r>
              <a:rPr lang="en-US" altLang="zh-CN" sz="2400" dirty="0">
                <a:solidFill>
                  <a:prstClr val="white"/>
                </a:solidFill>
              </a:rPr>
              <a:t>/</a:t>
            </a:r>
            <a:r>
              <a:rPr lang="zh-CN" altLang="en-US" sz="2400" dirty="0">
                <a:solidFill>
                  <a:prstClr val="white"/>
                </a:solidFill>
              </a:rPr>
              <a:t>团队介绍</a:t>
            </a:r>
            <a:endParaRPr lang="en-US" altLang="zh-CN" sz="2400" dirty="0">
              <a:solidFill>
                <a:prstClr val="white"/>
              </a:solidFill>
            </a:endParaRPr>
          </a:p>
          <a:p>
            <a:pPr marL="457200" lvl="0" indent="-45720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2400" dirty="0">
                <a:solidFill>
                  <a:prstClr val="white"/>
                </a:solidFill>
              </a:rPr>
              <a:t>附录</a:t>
            </a:r>
            <a:endParaRPr kumimoji="0" lang="zh-CN" altLang="en-US" sz="24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707640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436308"/>
            <a:ext cx="12192000" cy="1421692"/>
          </a:xfrm>
          <a:prstGeom prst="rect">
            <a:avLst/>
          </a:prstGeom>
        </p:spPr>
      </p:pic>
      <p:pic>
        <p:nvPicPr>
          <p:cNvPr id="3" name="图片 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40963" y="17822"/>
            <a:ext cx="5251037" cy="534579"/>
          </a:xfrm>
          <a:prstGeom prst="rect">
            <a:avLst/>
          </a:prstGeom>
        </p:spPr>
      </p:pic>
      <p:sp>
        <p:nvSpPr>
          <p:cNvPr id="4" name="文本框 3">
            <a:extLst>
              <a:ext uri="{FF2B5EF4-FFF2-40B4-BE49-F238E27FC236}">
                <a16:creationId xmlns:a16="http://schemas.microsoft.com/office/drawing/2014/main" id="{AB6CA7E9-597E-40CF-B350-BC562B495A39}"/>
              </a:ext>
            </a:extLst>
          </p:cNvPr>
          <p:cNvSpPr txBox="1"/>
          <p:nvPr/>
        </p:nvSpPr>
        <p:spPr>
          <a:xfrm>
            <a:off x="604887" y="553592"/>
            <a:ext cx="250902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>
              <a:defRPr sz="2800" b="1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>
                <a:gradFill>
                  <a:gsLst>
                    <a:gs pos="0">
                      <a:srgbClr val="00B050"/>
                    </a:gs>
                    <a:gs pos="100000">
                      <a:srgbClr val="0070C0"/>
                    </a:gs>
                  </a:gsLst>
                  <a:lin ang="10800000" scaled="1"/>
                </a:gradFill>
              </a:rPr>
              <a:t>核心产品</a:t>
            </a:r>
            <a:r>
              <a:rPr lang="en-US" altLang="zh-CN" dirty="0">
                <a:gradFill>
                  <a:gsLst>
                    <a:gs pos="0">
                      <a:srgbClr val="00B050"/>
                    </a:gs>
                    <a:gs pos="100000">
                      <a:srgbClr val="0070C0"/>
                    </a:gs>
                  </a:gsLst>
                  <a:lin ang="10800000" scaled="1"/>
                </a:gradFill>
              </a:rPr>
              <a:t>/</a:t>
            </a:r>
            <a:r>
              <a:rPr lang="zh-CN" altLang="en-US" dirty="0">
                <a:gradFill>
                  <a:gsLst>
                    <a:gs pos="0">
                      <a:srgbClr val="00B050"/>
                    </a:gs>
                    <a:gs pos="100000">
                      <a:srgbClr val="0070C0"/>
                    </a:gs>
                  </a:gsLst>
                  <a:lin ang="10800000" scaled="1"/>
                </a:gradFill>
              </a:rPr>
              <a:t>服务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EB6C8A42-BE34-494B-9350-03DF35F7857A}"/>
              </a:ext>
            </a:extLst>
          </p:cNvPr>
          <p:cNvSpPr/>
          <p:nvPr/>
        </p:nvSpPr>
        <p:spPr>
          <a:xfrm>
            <a:off x="541654" y="1116840"/>
            <a:ext cx="3427565" cy="45719"/>
          </a:xfrm>
          <a:prstGeom prst="rect">
            <a:avLst/>
          </a:prstGeom>
          <a:gradFill>
            <a:gsLst>
              <a:gs pos="100000">
                <a:srgbClr val="F5DDA0">
                  <a:alpha val="0"/>
                </a:srgbClr>
              </a:gs>
              <a:gs pos="0">
                <a:srgbClr val="1D93E0">
                  <a:alpha val="0"/>
                </a:srgbClr>
              </a:gs>
              <a:gs pos="58000">
                <a:srgbClr val="F5DDA0"/>
              </a:gs>
              <a:gs pos="29000">
                <a:srgbClr val="1D93E0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286869CA-CDDD-427C-90FC-ED0CA086FF12}"/>
              </a:ext>
            </a:extLst>
          </p:cNvPr>
          <p:cNvSpPr/>
          <p:nvPr/>
        </p:nvSpPr>
        <p:spPr>
          <a:xfrm>
            <a:off x="685800" y="1234440"/>
            <a:ext cx="5394960" cy="39319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① 检测：双基线（冻结抓慢漂移 + 短窗自适应抓突变）+ 工况条件化 → 分级告警 P1/P2/P3</a:t>
            </a:r>
          </a:p>
          <a:p>
            <a:pPr>
              <a:spcAft>
                <a:spcPts val="600"/>
              </a:spcAft>
            </a:pPr>
            <a:r>
              <a:rPr sz="125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② 诊断：CWRU 基准迁移，同记录/跨转速 宏F1 1.000（跨故障尺寸 0.536，边界已标注）</a:t>
            </a:r>
          </a:p>
          <a:p>
            <a:pPr>
              <a:spcAft>
                <a:spcPts val="600"/>
              </a:spcAft>
            </a:pPr>
            <a:r>
              <a:rPr sz="125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③ 剩余寿命：机理量外推 + 趋势门控 + 拟合窗匹配；孪生场景误差 1.00–4.04 天</a:t>
            </a:r>
          </a:p>
          <a:p>
            <a:pPr>
              <a:spcAft>
                <a:spcPts val="600"/>
              </a:spcAft>
            </a:pPr>
            <a:r>
              <a:rPr sz="125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④ 决策：RUL 驱动排程 vs 固定周期；C-MAPSS 省约 16%（12/15 格），污泥线脱水机省 24.5%（9/9 格）</a:t>
            </a:r>
          </a:p>
          <a:p>
            <a:pPr>
              <a:spcAft>
                <a:spcPts val="600"/>
              </a:spcAft>
            </a:pPr>
            <a:r>
              <a:rPr sz="125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· 交付形态：命令行工具 + 本地网页工作台 + 企业版报告（单文件 HTML）</a:t>
            </a:r>
          </a:p>
        </p:txBody>
      </p:sp>
      <p:pic>
        <p:nvPicPr>
          <p:cNvPr id="7" name="Picture 6" descr="figB_pipelin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0" y="2226980"/>
            <a:ext cx="5577840" cy="21297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87087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436308"/>
            <a:ext cx="12192000" cy="1421692"/>
          </a:xfrm>
          <a:prstGeom prst="rect">
            <a:avLst/>
          </a:prstGeom>
        </p:spPr>
      </p:pic>
      <p:pic>
        <p:nvPicPr>
          <p:cNvPr id="3" name="图片 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40963" y="17822"/>
            <a:ext cx="5251037" cy="534579"/>
          </a:xfrm>
          <a:prstGeom prst="rect">
            <a:avLst/>
          </a:prstGeom>
        </p:spPr>
      </p:pic>
      <p:sp>
        <p:nvSpPr>
          <p:cNvPr id="4" name="文本框 3">
            <a:extLst>
              <a:ext uri="{FF2B5EF4-FFF2-40B4-BE49-F238E27FC236}">
                <a16:creationId xmlns:a16="http://schemas.microsoft.com/office/drawing/2014/main" id="{AB6CA7E9-597E-40CF-B350-BC562B495A39}"/>
              </a:ext>
            </a:extLst>
          </p:cNvPr>
          <p:cNvSpPr txBox="1"/>
          <p:nvPr/>
        </p:nvSpPr>
        <p:spPr>
          <a:xfrm>
            <a:off x="604887" y="553592"/>
            <a:ext cx="341632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>
              <a:defRPr sz="2800" b="1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>
                <a:gradFill>
                  <a:gsLst>
                    <a:gs pos="0">
                      <a:srgbClr val="00B050"/>
                    </a:gs>
                    <a:gs pos="100000">
                      <a:srgbClr val="0070C0"/>
                    </a:gs>
                  </a:gsLst>
                  <a:lin ang="10800000" scaled="1"/>
                </a:gradFill>
              </a:rPr>
              <a:t>文章及知识产权情况</a:t>
            </a:r>
            <a:endParaRPr kumimoji="0" lang="zh-CN" altLang="en-US" sz="2800" b="1" i="0" u="none" strike="noStrike" kern="1200" cap="none" spc="0" normalizeH="0" baseline="0" noProof="0" dirty="0">
              <a:ln>
                <a:noFill/>
              </a:ln>
              <a:gradFill>
                <a:gsLst>
                  <a:gs pos="0">
                    <a:srgbClr val="00B050"/>
                  </a:gs>
                  <a:gs pos="100000">
                    <a:srgbClr val="0070C0"/>
                  </a:gs>
                </a:gsLst>
                <a:lin ang="10800000" scaled="1"/>
              </a:gra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EB6C8A42-BE34-494B-9350-03DF35F7857A}"/>
              </a:ext>
            </a:extLst>
          </p:cNvPr>
          <p:cNvSpPr/>
          <p:nvPr/>
        </p:nvSpPr>
        <p:spPr>
          <a:xfrm>
            <a:off x="541654" y="1116840"/>
            <a:ext cx="3427565" cy="45719"/>
          </a:xfrm>
          <a:prstGeom prst="rect">
            <a:avLst/>
          </a:prstGeom>
          <a:gradFill>
            <a:gsLst>
              <a:gs pos="100000">
                <a:srgbClr val="F5DDA0">
                  <a:alpha val="0"/>
                </a:srgbClr>
              </a:gs>
              <a:gs pos="0">
                <a:srgbClr val="1D93E0">
                  <a:alpha val="0"/>
                </a:srgbClr>
              </a:gs>
              <a:gs pos="58000">
                <a:srgbClr val="F5DDA0"/>
              </a:gs>
              <a:gs pos="29000">
                <a:srgbClr val="1D93E0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EB33DE18-BCAA-4DD1-9626-B5ACA456C4A9}"/>
              </a:ext>
            </a:extLst>
          </p:cNvPr>
          <p:cNvSpPr/>
          <p:nvPr/>
        </p:nvSpPr>
        <p:spPr>
          <a:xfrm>
            <a:off x="685800" y="1234440"/>
            <a:ext cx="5394960" cy="39319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 algn="just">
              <a:lnSpc>
                <a:spcPct val="150000"/>
              </a:lnSpc>
              <a:spcAft>
                <a:spcPts val="600"/>
              </a:spcAft>
              <a:buSzPts val="1400"/>
              <a:buFont typeface="Wingdings" panose="05000000000000000000" pitchFamily="2" charset="2"/>
              <a:buChar char=""/>
            </a:pPr>
            <a:r>
              <a:rPr sz="135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· 短期（1 年内）：完成软件著作权登记（材料已备）；形成 1 篇技术报告/论文初稿；整理公开数据集上的复现脚本。</a:t>
            </a:r>
            <a:endParaRPr lang="zh-CN" altLang="zh-CN" sz="1400" kern="100" dirty="0">
              <a:solidFill>
                <a:schemeClr val="bg2">
                  <a:lumMod val="50000"/>
                </a:schemeClr>
              </a:solidFill>
              <a:effectLst/>
              <a:latin typeface="Calibri" panose="020F0502020204030204" pitchFamily="34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>
              <a:spcAft>
                <a:spcPts val="600"/>
              </a:spcAft>
            </a:pPr>
            <a:r>
              <a:rPr sz="135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· 中期（3 年）：申请发明专利（双基线+工况条件化的检测方法、设备级物料平衡比值监测方法）；参与行业标准/团体标准讨论。</a:t>
            </a:r>
          </a:p>
          <a:p>
            <a:pPr>
              <a:spcAft>
                <a:spcPts val="600"/>
              </a:spcAft>
            </a:pPr>
            <a:r>
              <a:rPr sz="135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· 长期（5 年）：形成「设备健康管理」方法学与工具链，向供水厂、排水管网泵站横向扩展。</a:t>
            </a:r>
          </a:p>
          <a:p>
            <a:pPr>
              <a:spcAft>
                <a:spcPts val="600"/>
              </a:spcAft>
            </a:pPr>
            <a:r>
              <a:rPr sz="135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· 当前状态：代码与文档均可现场演示；所有数字可复现（一键复现 39 阶段 + 数字总检 30/30）。</a:t>
            </a:r>
          </a:p>
        </p:txBody>
      </p:sp>
    </p:spTree>
    <p:extLst>
      <p:ext uri="{BB962C8B-B14F-4D97-AF65-F5344CB8AC3E}">
        <p14:creationId xmlns:p14="http://schemas.microsoft.com/office/powerpoint/2010/main" val="8784486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436308"/>
            <a:ext cx="12192000" cy="1421692"/>
          </a:xfrm>
          <a:prstGeom prst="rect">
            <a:avLst/>
          </a:prstGeom>
        </p:spPr>
      </p:pic>
      <p:pic>
        <p:nvPicPr>
          <p:cNvPr id="3" name="图片 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40963" y="17822"/>
            <a:ext cx="5251037" cy="534579"/>
          </a:xfrm>
          <a:prstGeom prst="rect">
            <a:avLst/>
          </a:prstGeom>
        </p:spPr>
      </p:pic>
      <p:sp>
        <p:nvSpPr>
          <p:cNvPr id="4" name="文本框 3">
            <a:extLst>
              <a:ext uri="{FF2B5EF4-FFF2-40B4-BE49-F238E27FC236}">
                <a16:creationId xmlns:a16="http://schemas.microsoft.com/office/drawing/2014/main" id="{AB6CA7E9-597E-40CF-B350-BC562B495A39}"/>
              </a:ext>
            </a:extLst>
          </p:cNvPr>
          <p:cNvSpPr txBox="1"/>
          <p:nvPr/>
        </p:nvSpPr>
        <p:spPr>
          <a:xfrm>
            <a:off x="604887" y="553592"/>
            <a:ext cx="23391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>
              <a:defRPr sz="2800" b="1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>
                <a:gradFill>
                  <a:gsLst>
                    <a:gs pos="0">
                      <a:srgbClr val="00B050"/>
                    </a:gs>
                    <a:gs pos="100000">
                      <a:srgbClr val="0070C0"/>
                    </a:gs>
                  </a:gsLst>
                  <a:lin ang="10800000" scaled="1"/>
                </a:gradFill>
              </a:rPr>
              <a:t>产品迭代计划</a:t>
            </a:r>
            <a:endParaRPr kumimoji="0" lang="zh-CN" altLang="en-US" sz="2800" b="1" i="0" u="none" strike="noStrike" kern="1200" cap="none" spc="0" normalizeH="0" baseline="0" noProof="0" dirty="0">
              <a:ln>
                <a:noFill/>
              </a:ln>
              <a:gradFill>
                <a:gsLst>
                  <a:gs pos="0">
                    <a:srgbClr val="00B050"/>
                  </a:gs>
                  <a:gs pos="100000">
                    <a:srgbClr val="0070C0"/>
                  </a:gs>
                </a:gsLst>
                <a:lin ang="10800000" scaled="1"/>
              </a:gra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EB6C8A42-BE34-494B-9350-03DF35F7857A}"/>
              </a:ext>
            </a:extLst>
          </p:cNvPr>
          <p:cNvSpPr/>
          <p:nvPr/>
        </p:nvSpPr>
        <p:spPr>
          <a:xfrm>
            <a:off x="541654" y="1116840"/>
            <a:ext cx="3427565" cy="45719"/>
          </a:xfrm>
          <a:prstGeom prst="rect">
            <a:avLst/>
          </a:prstGeom>
          <a:gradFill>
            <a:gsLst>
              <a:gs pos="100000">
                <a:srgbClr val="F5DDA0">
                  <a:alpha val="0"/>
                </a:srgbClr>
              </a:gs>
              <a:gs pos="0">
                <a:srgbClr val="1D93E0">
                  <a:alpha val="0"/>
                </a:srgbClr>
              </a:gs>
              <a:gs pos="58000">
                <a:srgbClr val="F5DDA0"/>
              </a:gs>
              <a:gs pos="29000">
                <a:srgbClr val="1D93E0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EB33DE18-BCAA-4DD1-9626-B5ACA456C4A9}"/>
              </a:ext>
            </a:extLst>
          </p:cNvPr>
          <p:cNvSpPr/>
          <p:nvPr/>
        </p:nvSpPr>
        <p:spPr>
          <a:xfrm>
            <a:off x="685800" y="1234440"/>
            <a:ext cx="5394960" cy="39319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 algn="just">
              <a:lnSpc>
                <a:spcPct val="150000"/>
              </a:lnSpc>
              <a:spcAft>
                <a:spcPts val="600"/>
              </a:spcAft>
              <a:buSzPts val="1400"/>
              <a:buFont typeface="Wingdings" panose="05000000000000000000" pitchFamily="2" charset="2"/>
              <a:buChar char=""/>
            </a:pPr>
            <a:r>
              <a:rPr sz="135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· 短期（1 年内）：接入首个污水厂试点（1 台设备）→ 用真实数据校准阈值与工况分层；补齐诊断到水务设备语义的映射。</a:t>
            </a:r>
            <a:endParaRPr lang="zh-CN" altLang="zh-CN" sz="1400" kern="100" dirty="0">
              <a:solidFill>
                <a:schemeClr val="bg2">
                  <a:lumMod val="50000"/>
                </a:schemeClr>
              </a:solidFill>
              <a:effectLst/>
              <a:latin typeface="Calibri" panose="020F0502020204030204" pitchFamily="34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>
              <a:spcAft>
                <a:spcPts val="600"/>
              </a:spcAft>
            </a:pPr>
            <a:r>
              <a:rPr sz="135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· 中期（3 年）：扩展至鼓风机/脱水机/泵等多设备类型；增加多源冗余（在线密度计 + 实验室）与独立漂移监控模块。</a:t>
            </a:r>
          </a:p>
          <a:p>
            <a:pPr>
              <a:spcAft>
                <a:spcPts val="600"/>
              </a:spcAft>
            </a:pPr>
            <a:r>
              <a:rPr sz="135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· 长期（5 年）：从「单厂工具」演进为「集团级设备健康平台」，支持多厂复制与统一看板。</a:t>
            </a:r>
          </a:p>
        </p:txBody>
      </p:sp>
    </p:spTree>
    <p:extLst>
      <p:ext uri="{BB962C8B-B14F-4D97-AF65-F5344CB8AC3E}">
        <p14:creationId xmlns:p14="http://schemas.microsoft.com/office/powerpoint/2010/main" val="8654784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436308"/>
            <a:ext cx="12192000" cy="1421692"/>
          </a:xfrm>
          <a:prstGeom prst="rect">
            <a:avLst/>
          </a:prstGeom>
        </p:spPr>
      </p:pic>
      <p:pic>
        <p:nvPicPr>
          <p:cNvPr id="3" name="图片 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40963" y="17822"/>
            <a:ext cx="5251037" cy="534579"/>
          </a:xfrm>
          <a:prstGeom prst="rect">
            <a:avLst/>
          </a:prstGeom>
        </p:spPr>
      </p:pic>
      <p:sp>
        <p:nvSpPr>
          <p:cNvPr id="4" name="文本框 3">
            <a:extLst>
              <a:ext uri="{FF2B5EF4-FFF2-40B4-BE49-F238E27FC236}">
                <a16:creationId xmlns:a16="http://schemas.microsoft.com/office/drawing/2014/main" id="{AB6CA7E9-597E-40CF-B350-BC562B495A39}"/>
              </a:ext>
            </a:extLst>
          </p:cNvPr>
          <p:cNvSpPr txBox="1"/>
          <p:nvPr/>
        </p:nvSpPr>
        <p:spPr>
          <a:xfrm>
            <a:off x="604887" y="553592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>
              <a:defRPr sz="2800" b="1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800" b="1" i="0" u="none" strike="noStrike" kern="1200" cap="none" spc="0" normalizeH="0" baseline="0" noProof="0" dirty="0">
                <a:ln>
                  <a:noFill/>
                </a:ln>
                <a:gradFill>
                  <a:gsLst>
                    <a:gs pos="0">
                      <a:srgbClr val="00B050"/>
                    </a:gs>
                    <a:gs pos="100000">
                      <a:srgbClr val="0070C0"/>
                    </a:gs>
                  </a:gsLst>
                  <a:lin ang="10800000" scaled="1"/>
                </a:gra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项目亮点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EB6C8A42-BE34-494B-9350-03DF35F7857A}"/>
              </a:ext>
            </a:extLst>
          </p:cNvPr>
          <p:cNvSpPr/>
          <p:nvPr/>
        </p:nvSpPr>
        <p:spPr>
          <a:xfrm>
            <a:off x="541654" y="1116840"/>
            <a:ext cx="3427565" cy="45719"/>
          </a:xfrm>
          <a:prstGeom prst="rect">
            <a:avLst/>
          </a:prstGeom>
          <a:gradFill>
            <a:gsLst>
              <a:gs pos="100000">
                <a:srgbClr val="F5DDA0">
                  <a:alpha val="0"/>
                </a:srgbClr>
              </a:gs>
              <a:gs pos="0">
                <a:srgbClr val="1D93E0">
                  <a:alpha val="0"/>
                </a:srgbClr>
              </a:gs>
              <a:gs pos="58000">
                <a:srgbClr val="F5DDA0"/>
              </a:gs>
              <a:gs pos="29000">
                <a:srgbClr val="1D93E0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27849091-84EA-4720-A192-2750AC0FB630}"/>
              </a:ext>
            </a:extLst>
          </p:cNvPr>
          <p:cNvSpPr/>
          <p:nvPr/>
        </p:nvSpPr>
        <p:spPr>
          <a:xfrm>
            <a:off x="685800" y="1234440"/>
            <a:ext cx="5394960" cy="39319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 algn="just">
              <a:lnSpc>
                <a:spcPct val="150000"/>
              </a:lnSpc>
              <a:spcAft>
                <a:spcPts val="600"/>
              </a:spcAft>
              <a:buSzPts val="1400"/>
              <a:buFont typeface="Wingdings" panose="05000000000000000000" pitchFamily="2" charset="2"/>
              <a:buChar char=""/>
            </a:pPr>
            <a:r>
              <a:rPr sz="135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· 创新性：三层防误报（双基线 / 工况条件化 / 同期同工况对拍）+ 设备级物料平衡比值监测 + 机理锚定 RUL + 诚实工程（四轮独立复核、数字总检）。</a:t>
            </a:r>
            <a:endParaRPr lang="zh-CN" altLang="zh-CN" sz="1400" kern="100" dirty="0">
              <a:solidFill>
                <a:schemeClr val="bg2">
                  <a:lumMod val="50000"/>
                </a:schemeClr>
              </a:solidFill>
              <a:effectLst/>
              <a:latin typeface="Calibri" panose="020F0502020204030204" pitchFamily="34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>
              <a:spcAft>
                <a:spcPts val="600"/>
              </a:spcAft>
            </a:pPr>
            <a:r>
              <a:rPr sz="135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· 社会价值：减少非计划停机与溢流风险；泥饼含固率不达标的合规预警；不新增传感器，不增加现场改造负担。</a:t>
            </a:r>
          </a:p>
          <a:p>
            <a:pPr>
              <a:spcAft>
                <a:spcPts val="600"/>
              </a:spcAft>
            </a:pPr>
            <a:r>
              <a:rPr sz="135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· 商业价值：按设备数订阅，轻资产、不垫资；可复制到供水与管网泵站。</a:t>
            </a:r>
          </a:p>
          <a:p>
            <a:pPr>
              <a:spcAft>
                <a:spcPts val="600"/>
              </a:spcAft>
            </a:pPr>
            <a:r>
              <a:rPr sz="135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· 关键证据：整厂尺度原始量 86.11 天仍检不出 → 设备级比值通道 9.80 天检出、提前 37.47 天。</a:t>
            </a:r>
          </a:p>
        </p:txBody>
      </p:sp>
      <p:pic>
        <p:nvPicPr>
          <p:cNvPr id="7" name="Picture 6" descr="bsm2_route_b_detec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0" y="1472979"/>
            <a:ext cx="5577840" cy="36377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21291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26140" y="95949"/>
            <a:ext cx="5780926" cy="865053"/>
          </a:xfrm>
          <a:prstGeom prst="rect">
            <a:avLst/>
          </a:prstGeom>
        </p:spPr>
      </p:pic>
      <p:pic>
        <p:nvPicPr>
          <p:cNvPr id="3" name="图片 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6580" y="5809027"/>
            <a:ext cx="3719245" cy="942971"/>
          </a:xfrm>
          <a:prstGeom prst="rect">
            <a:avLst/>
          </a:prstGeom>
        </p:spPr>
      </p:pic>
      <p:sp>
        <p:nvSpPr>
          <p:cNvPr id="4" name="文本框 3"/>
          <p:cNvSpPr txBox="1"/>
          <p:nvPr/>
        </p:nvSpPr>
        <p:spPr>
          <a:xfrm>
            <a:off x="1212684" y="1897225"/>
            <a:ext cx="1481496" cy="98834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4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目 录</a:t>
            </a:r>
            <a:endParaRPr kumimoji="0" lang="zh-CN" altLang="en-US" sz="18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64ACE34-6F90-4F57-AF43-66FF01CC7965}"/>
              </a:ext>
            </a:extLst>
          </p:cNvPr>
          <p:cNvSpPr txBox="1"/>
          <p:nvPr/>
        </p:nvSpPr>
        <p:spPr>
          <a:xfrm>
            <a:off x="4196550" y="1187369"/>
            <a:ext cx="4647426" cy="44590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>
              <a:defRPr sz="2800" b="1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marL="457200" marR="0" indent="-457200" fontAlgn="auto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n"/>
              <a:tabLst/>
              <a:defRPr/>
            </a:pPr>
            <a:r>
              <a:rPr lang="zh-CN" altLang="en-US" sz="2400" dirty="0">
                <a:solidFill>
                  <a:prstClr val="white"/>
                </a:solidFill>
              </a:rPr>
              <a:t>项目概述</a:t>
            </a:r>
            <a:endParaRPr lang="en-US" altLang="zh-CN" sz="2400" dirty="0">
              <a:solidFill>
                <a:prstClr val="white"/>
              </a:solidFill>
            </a:endParaRP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2400" dirty="0">
                <a:solidFill>
                  <a:prstClr val="white"/>
                </a:solidFill>
              </a:rPr>
              <a:t>产品</a:t>
            </a:r>
            <a:r>
              <a:rPr lang="en-US" altLang="zh-CN" sz="2400" dirty="0">
                <a:solidFill>
                  <a:prstClr val="white"/>
                </a:solidFill>
              </a:rPr>
              <a:t>/</a:t>
            </a:r>
            <a:r>
              <a:rPr lang="zh-CN" altLang="en-US" sz="2400" dirty="0">
                <a:solidFill>
                  <a:prstClr val="white"/>
                </a:solidFill>
              </a:rPr>
              <a:t>服务设计</a:t>
            </a:r>
            <a:endParaRPr lang="en-US" altLang="zh-CN" sz="2400" dirty="0">
              <a:solidFill>
                <a:prstClr val="white"/>
              </a:solidFill>
            </a:endParaRPr>
          </a:p>
          <a:p>
            <a:pPr marL="457200" lvl="0" indent="-45720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2400" dirty="0">
                <a:solidFill>
                  <a:srgbClr val="002060"/>
                </a:solidFill>
              </a:rPr>
              <a:t>市场营销分析</a:t>
            </a:r>
            <a:endParaRPr lang="en-US" altLang="zh-CN" sz="2400" dirty="0">
              <a:solidFill>
                <a:srgbClr val="002060"/>
              </a:solidFill>
            </a:endParaRPr>
          </a:p>
          <a:p>
            <a:pPr marL="457200" lvl="0" indent="-45720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2400" dirty="0">
                <a:solidFill>
                  <a:prstClr val="white"/>
                </a:solidFill>
              </a:rPr>
              <a:t>商业模式和财务分析（如有）</a:t>
            </a:r>
            <a:endParaRPr lang="en-US" altLang="zh-CN" sz="2400" dirty="0">
              <a:solidFill>
                <a:prstClr val="white"/>
              </a:solidFill>
            </a:endParaRPr>
          </a:p>
          <a:p>
            <a:pPr marL="457200" lvl="0" indent="-45720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2400" dirty="0">
                <a:solidFill>
                  <a:prstClr val="white"/>
                </a:solidFill>
              </a:rPr>
              <a:t>实施计划</a:t>
            </a:r>
            <a:endParaRPr lang="en-US" altLang="zh-CN" sz="2400" dirty="0">
              <a:solidFill>
                <a:prstClr val="white"/>
              </a:solidFill>
            </a:endParaRPr>
          </a:p>
          <a:p>
            <a:pPr marL="457200" lvl="0" indent="-45720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2400" dirty="0">
                <a:solidFill>
                  <a:prstClr val="white"/>
                </a:solidFill>
              </a:rPr>
              <a:t>风险分析与对策</a:t>
            </a:r>
            <a:endParaRPr lang="en-US" altLang="zh-CN" sz="2400" dirty="0">
              <a:solidFill>
                <a:prstClr val="white"/>
              </a:solidFill>
            </a:endParaRPr>
          </a:p>
          <a:p>
            <a:pPr marL="457200" lvl="0" indent="-45720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2400" dirty="0">
                <a:solidFill>
                  <a:prstClr val="white"/>
                </a:solidFill>
              </a:rPr>
              <a:t>公司</a:t>
            </a:r>
            <a:r>
              <a:rPr lang="en-US" altLang="zh-CN" sz="2400" dirty="0">
                <a:solidFill>
                  <a:prstClr val="white"/>
                </a:solidFill>
              </a:rPr>
              <a:t>/</a:t>
            </a:r>
            <a:r>
              <a:rPr lang="zh-CN" altLang="en-US" sz="2400" dirty="0">
                <a:solidFill>
                  <a:prstClr val="white"/>
                </a:solidFill>
              </a:rPr>
              <a:t>团队介绍</a:t>
            </a:r>
            <a:endParaRPr lang="en-US" altLang="zh-CN" sz="2400" dirty="0">
              <a:solidFill>
                <a:prstClr val="white"/>
              </a:solidFill>
            </a:endParaRPr>
          </a:p>
          <a:p>
            <a:pPr marL="457200" lvl="0" indent="-45720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2400" dirty="0">
                <a:solidFill>
                  <a:prstClr val="white"/>
                </a:solidFill>
              </a:rPr>
              <a:t>附录</a:t>
            </a:r>
            <a:endParaRPr kumimoji="0" lang="zh-CN" altLang="en-US" sz="24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9902654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436308"/>
            <a:ext cx="12192000" cy="1421692"/>
          </a:xfrm>
          <a:prstGeom prst="rect">
            <a:avLst/>
          </a:prstGeom>
        </p:spPr>
      </p:pic>
      <p:pic>
        <p:nvPicPr>
          <p:cNvPr id="3" name="图片 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40963" y="17822"/>
            <a:ext cx="5251037" cy="534579"/>
          </a:xfrm>
          <a:prstGeom prst="rect">
            <a:avLst/>
          </a:prstGeom>
        </p:spPr>
      </p:pic>
      <p:sp>
        <p:nvSpPr>
          <p:cNvPr id="4" name="文本框 3">
            <a:extLst>
              <a:ext uri="{FF2B5EF4-FFF2-40B4-BE49-F238E27FC236}">
                <a16:creationId xmlns:a16="http://schemas.microsoft.com/office/drawing/2014/main" id="{AB6CA7E9-597E-40CF-B350-BC562B495A39}"/>
              </a:ext>
            </a:extLst>
          </p:cNvPr>
          <p:cNvSpPr txBox="1"/>
          <p:nvPr/>
        </p:nvSpPr>
        <p:spPr>
          <a:xfrm>
            <a:off x="604887" y="553592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>
              <a:defRPr sz="2800" b="1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>
                <a:gradFill>
                  <a:gsLst>
                    <a:gs pos="0">
                      <a:srgbClr val="00B050"/>
                    </a:gs>
                    <a:gs pos="100000">
                      <a:srgbClr val="0070C0"/>
                    </a:gs>
                  </a:gsLst>
                  <a:lin ang="10800000" scaled="1"/>
                </a:gradFill>
              </a:rPr>
              <a:t>行业背景</a:t>
            </a:r>
            <a:endParaRPr kumimoji="0" lang="zh-CN" altLang="en-US" sz="2800" b="1" i="0" u="none" strike="noStrike" kern="1200" cap="none" spc="0" normalizeH="0" baseline="0" noProof="0" dirty="0">
              <a:ln>
                <a:noFill/>
              </a:ln>
              <a:gradFill>
                <a:gsLst>
                  <a:gs pos="0">
                    <a:srgbClr val="00B050"/>
                  </a:gs>
                  <a:gs pos="100000">
                    <a:srgbClr val="0070C0"/>
                  </a:gs>
                </a:gsLst>
                <a:lin ang="10800000" scaled="1"/>
              </a:gra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EB6C8A42-BE34-494B-9350-03DF35F7857A}"/>
              </a:ext>
            </a:extLst>
          </p:cNvPr>
          <p:cNvSpPr/>
          <p:nvPr/>
        </p:nvSpPr>
        <p:spPr>
          <a:xfrm>
            <a:off x="541654" y="1116840"/>
            <a:ext cx="3427565" cy="45719"/>
          </a:xfrm>
          <a:prstGeom prst="rect">
            <a:avLst/>
          </a:prstGeom>
          <a:gradFill>
            <a:gsLst>
              <a:gs pos="100000">
                <a:srgbClr val="F5DDA0">
                  <a:alpha val="0"/>
                </a:srgbClr>
              </a:gs>
              <a:gs pos="0">
                <a:srgbClr val="1D93E0">
                  <a:alpha val="0"/>
                </a:srgbClr>
              </a:gs>
              <a:gs pos="58000">
                <a:srgbClr val="F5DDA0"/>
              </a:gs>
              <a:gs pos="29000">
                <a:srgbClr val="1D93E0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AB09D31B-A08F-4AC7-9DC0-600843EFDFD6}"/>
              </a:ext>
            </a:extLst>
          </p:cNvPr>
          <p:cNvSpPr/>
          <p:nvPr/>
        </p:nvSpPr>
        <p:spPr>
          <a:xfrm>
            <a:off x="685800" y="1234440"/>
            <a:ext cx="5394960" cy="39319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buSzPts val="1400"/>
            </a:pPr>
            <a:r>
              <a:rPr sz="135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· 存量巨大：城市及县城污水处理厂约 4816 座（2023 城乡建设统计年鉴，待原文核实）。</a:t>
            </a:r>
            <a:endParaRPr lang="zh-CN" altLang="zh-CN" b="1" dirty="0">
              <a:solidFill>
                <a:schemeClr val="bg2">
                  <a:lumMod val="50000"/>
                </a:schemeClr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>
              <a:spcAft>
                <a:spcPts val="600"/>
              </a:spcAft>
            </a:pPr>
            <a:r>
              <a:rPr sz="135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· 政策导向：双碳与污水资源化持续加压，运维成本与合规要求同步提高。</a:t>
            </a:r>
          </a:p>
          <a:p>
            <a:pPr>
              <a:spcAft>
                <a:spcPts val="600"/>
              </a:spcAft>
            </a:pPr>
            <a:r>
              <a:rPr sz="135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· 现状：关键设备以「定期大修 + 坏了才修」为主，缺乏预测性维护手段。</a:t>
            </a:r>
          </a:p>
          <a:p>
            <a:pPr>
              <a:spcAft>
                <a:spcPts val="600"/>
              </a:spcAft>
            </a:pPr>
            <a:r>
              <a:rPr sz="135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· 数据条件：运行数据已在 DCS/SCADA 里，缺的是方法与工具（对齐本次命题）。</a:t>
            </a:r>
          </a:p>
        </p:txBody>
      </p:sp>
    </p:spTree>
    <p:extLst>
      <p:ext uri="{BB962C8B-B14F-4D97-AF65-F5344CB8AC3E}">
        <p14:creationId xmlns:p14="http://schemas.microsoft.com/office/powerpoint/2010/main" val="86395075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436308"/>
            <a:ext cx="12192000" cy="1421692"/>
          </a:xfrm>
          <a:prstGeom prst="rect">
            <a:avLst/>
          </a:prstGeom>
        </p:spPr>
      </p:pic>
      <p:pic>
        <p:nvPicPr>
          <p:cNvPr id="3" name="图片 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40963" y="17822"/>
            <a:ext cx="5251037" cy="534579"/>
          </a:xfrm>
          <a:prstGeom prst="rect">
            <a:avLst/>
          </a:prstGeom>
        </p:spPr>
      </p:pic>
      <p:sp>
        <p:nvSpPr>
          <p:cNvPr id="4" name="文本框 3">
            <a:extLst>
              <a:ext uri="{FF2B5EF4-FFF2-40B4-BE49-F238E27FC236}">
                <a16:creationId xmlns:a16="http://schemas.microsoft.com/office/drawing/2014/main" id="{AB6CA7E9-597E-40CF-B350-BC562B495A39}"/>
              </a:ext>
            </a:extLst>
          </p:cNvPr>
          <p:cNvSpPr txBox="1"/>
          <p:nvPr/>
        </p:nvSpPr>
        <p:spPr>
          <a:xfrm>
            <a:off x="604887" y="553592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>
              <a:defRPr sz="2800" b="1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>
                <a:gradFill>
                  <a:gsLst>
                    <a:gs pos="0">
                      <a:srgbClr val="00B050"/>
                    </a:gs>
                    <a:gs pos="100000">
                      <a:srgbClr val="0070C0"/>
                    </a:gs>
                  </a:gsLst>
                  <a:lin ang="10800000" scaled="1"/>
                </a:gradFill>
              </a:rPr>
              <a:t>目标市场</a:t>
            </a:r>
            <a:endParaRPr kumimoji="0" lang="zh-CN" altLang="en-US" sz="2800" b="1" i="0" u="none" strike="noStrike" kern="1200" cap="none" spc="0" normalizeH="0" baseline="0" noProof="0" dirty="0">
              <a:ln>
                <a:noFill/>
              </a:ln>
              <a:gradFill>
                <a:gsLst>
                  <a:gs pos="0">
                    <a:srgbClr val="00B050"/>
                  </a:gs>
                  <a:gs pos="100000">
                    <a:srgbClr val="0070C0"/>
                  </a:gs>
                </a:gsLst>
                <a:lin ang="10800000" scaled="1"/>
              </a:gra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EB6C8A42-BE34-494B-9350-03DF35F7857A}"/>
              </a:ext>
            </a:extLst>
          </p:cNvPr>
          <p:cNvSpPr/>
          <p:nvPr/>
        </p:nvSpPr>
        <p:spPr>
          <a:xfrm>
            <a:off x="541654" y="1116840"/>
            <a:ext cx="3427565" cy="45719"/>
          </a:xfrm>
          <a:prstGeom prst="rect">
            <a:avLst/>
          </a:prstGeom>
          <a:gradFill>
            <a:gsLst>
              <a:gs pos="100000">
                <a:srgbClr val="F5DDA0">
                  <a:alpha val="0"/>
                </a:srgbClr>
              </a:gs>
              <a:gs pos="0">
                <a:srgbClr val="1D93E0">
                  <a:alpha val="0"/>
                </a:srgbClr>
              </a:gs>
              <a:gs pos="58000">
                <a:srgbClr val="F5DDA0"/>
              </a:gs>
              <a:gs pos="29000">
                <a:srgbClr val="1D93E0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7B53FC15-565C-4C48-81C2-1C8591EAA14D}"/>
              </a:ext>
            </a:extLst>
          </p:cNvPr>
          <p:cNvSpPr/>
          <p:nvPr/>
        </p:nvSpPr>
        <p:spPr>
          <a:xfrm>
            <a:off x="685800" y="1234440"/>
            <a:ext cx="5394960" cy="39319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5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· 使用者：厂级设备科 / 运维班长（依据 P1/P2/P3 决定动作）。</a:t>
            </a:r>
          </a:p>
          <a:p>
            <a:pPr>
              <a:spcAft>
                <a:spcPts val="600"/>
              </a:spcAft>
            </a:pPr>
            <a:r>
              <a:rPr sz="135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· 付费方：水务集团 / 地方水司的生产技术部或设备管理部门。</a:t>
            </a:r>
          </a:p>
          <a:p>
            <a:pPr>
              <a:spcAft>
                <a:spcPts val="600"/>
              </a:spcAft>
            </a:pPr>
            <a:r>
              <a:rPr sz="135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· 决策链：厂级试点 → 集团技术部评估 → 集团统一部署。</a:t>
            </a:r>
          </a:p>
          <a:p>
            <a:pPr>
              <a:spcAft>
                <a:spcPts val="600"/>
              </a:spcAft>
            </a:pPr>
            <a:r>
              <a:rPr sz="135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· 典型客户特征：有明确运维考核指标（非计划停机、能耗、药耗），且愿意做小范围试点。</a:t>
            </a:r>
          </a:p>
        </p:txBody>
      </p:sp>
    </p:spTree>
    <p:extLst>
      <p:ext uri="{BB962C8B-B14F-4D97-AF65-F5344CB8AC3E}">
        <p14:creationId xmlns:p14="http://schemas.microsoft.com/office/powerpoint/2010/main" val="5583203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436308"/>
            <a:ext cx="12192000" cy="1421692"/>
          </a:xfrm>
          <a:prstGeom prst="rect">
            <a:avLst/>
          </a:prstGeom>
        </p:spPr>
      </p:pic>
      <p:pic>
        <p:nvPicPr>
          <p:cNvPr id="3" name="图片 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40963" y="17822"/>
            <a:ext cx="5251037" cy="534579"/>
          </a:xfrm>
          <a:prstGeom prst="rect">
            <a:avLst/>
          </a:prstGeom>
        </p:spPr>
      </p:pic>
      <p:sp>
        <p:nvSpPr>
          <p:cNvPr id="4" name="文本框 3">
            <a:extLst>
              <a:ext uri="{FF2B5EF4-FFF2-40B4-BE49-F238E27FC236}">
                <a16:creationId xmlns:a16="http://schemas.microsoft.com/office/drawing/2014/main" id="{AB6CA7E9-597E-40CF-B350-BC562B495A39}"/>
              </a:ext>
            </a:extLst>
          </p:cNvPr>
          <p:cNvSpPr txBox="1"/>
          <p:nvPr/>
        </p:nvSpPr>
        <p:spPr>
          <a:xfrm>
            <a:off x="604887" y="553592"/>
            <a:ext cx="736611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>
              <a:defRPr sz="2800" b="1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>
                <a:gradFill>
                  <a:gsLst>
                    <a:gs pos="0">
                      <a:srgbClr val="00B050"/>
                    </a:gs>
                    <a:gs pos="100000">
                      <a:srgbClr val="0070C0"/>
                    </a:gs>
                  </a:gsLst>
                  <a:lin ang="10800000" scaled="1"/>
                </a:gradFill>
              </a:rPr>
              <a:t>细分市场规模（潜在用户量、增长率、产值）</a:t>
            </a:r>
            <a:endParaRPr kumimoji="0" lang="zh-CN" altLang="en-US" sz="2800" b="1" i="0" u="none" strike="noStrike" kern="1200" cap="none" spc="0" normalizeH="0" baseline="0" noProof="0" dirty="0">
              <a:ln>
                <a:noFill/>
              </a:ln>
              <a:gradFill>
                <a:gsLst>
                  <a:gs pos="0">
                    <a:srgbClr val="00B050"/>
                  </a:gs>
                  <a:gs pos="100000">
                    <a:srgbClr val="0070C0"/>
                  </a:gs>
                </a:gsLst>
                <a:lin ang="10800000" scaled="1"/>
              </a:gra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EB6C8A42-BE34-494B-9350-03DF35F7857A}"/>
              </a:ext>
            </a:extLst>
          </p:cNvPr>
          <p:cNvSpPr/>
          <p:nvPr/>
        </p:nvSpPr>
        <p:spPr>
          <a:xfrm>
            <a:off x="541654" y="1116840"/>
            <a:ext cx="3427565" cy="45719"/>
          </a:xfrm>
          <a:prstGeom prst="rect">
            <a:avLst/>
          </a:prstGeom>
          <a:gradFill>
            <a:gsLst>
              <a:gs pos="100000">
                <a:srgbClr val="F5DDA0">
                  <a:alpha val="0"/>
                </a:srgbClr>
              </a:gs>
              <a:gs pos="0">
                <a:srgbClr val="1D93E0">
                  <a:alpha val="0"/>
                </a:srgbClr>
              </a:gs>
              <a:gs pos="58000">
                <a:srgbClr val="F5DDA0"/>
              </a:gs>
              <a:gs pos="29000">
                <a:srgbClr val="1D93E0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85800" y="1234440"/>
            <a:ext cx="53949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5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· 口径一：存量厂数 × 单厂关键设备数（鼓风机 / 脱水机 / 提升泵 / 回流泵）。</a:t>
            </a:r>
          </a:p>
          <a:p>
            <a:pPr>
              <a:spcAft>
                <a:spcPts val="600"/>
              </a:spcAft>
            </a:pPr>
            <a:r>
              <a:rPr sz="135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· 口径二：单厂年度运维预算中「非计划停机损失 + 备件与人工」占比。</a:t>
            </a:r>
          </a:p>
          <a:p>
            <a:pPr>
              <a:spcAft>
                <a:spcPts val="600"/>
              </a:spcAft>
            </a:pPr>
            <a:r>
              <a:rPr sz="135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· 口径三：对标工业预测性维护软件单价区间 × 渗透率。</a:t>
            </a:r>
          </a:p>
          <a:p>
            <a:pPr>
              <a:spcAft>
                <a:spcPts val="600"/>
              </a:spcAft>
            </a:pPr>
            <a:r>
              <a:rPr sz="135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· 说明：三种口径均需公开原文核实后再填报，未核实前不外报具体金额。</a:t>
            </a:r>
          </a:p>
        </p:txBody>
      </p:sp>
    </p:spTree>
    <p:extLst>
      <p:ext uri="{BB962C8B-B14F-4D97-AF65-F5344CB8AC3E}">
        <p14:creationId xmlns:p14="http://schemas.microsoft.com/office/powerpoint/2010/main" val="126739542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436308"/>
            <a:ext cx="12192000" cy="1421692"/>
          </a:xfrm>
          <a:prstGeom prst="rect">
            <a:avLst/>
          </a:prstGeom>
        </p:spPr>
      </p:pic>
      <p:pic>
        <p:nvPicPr>
          <p:cNvPr id="3" name="图片 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40963" y="17822"/>
            <a:ext cx="5251037" cy="534579"/>
          </a:xfrm>
          <a:prstGeom prst="rect">
            <a:avLst/>
          </a:prstGeom>
        </p:spPr>
      </p:pic>
      <p:sp>
        <p:nvSpPr>
          <p:cNvPr id="4" name="文本框 3">
            <a:extLst>
              <a:ext uri="{FF2B5EF4-FFF2-40B4-BE49-F238E27FC236}">
                <a16:creationId xmlns:a16="http://schemas.microsoft.com/office/drawing/2014/main" id="{AB6CA7E9-597E-40CF-B350-BC562B495A39}"/>
              </a:ext>
            </a:extLst>
          </p:cNvPr>
          <p:cNvSpPr txBox="1"/>
          <p:nvPr/>
        </p:nvSpPr>
        <p:spPr>
          <a:xfrm>
            <a:off x="604887" y="553592"/>
            <a:ext cx="844333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>
              <a:defRPr sz="2800" b="1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>
                <a:gradFill>
                  <a:gsLst>
                    <a:gs pos="0">
                      <a:srgbClr val="00B050"/>
                    </a:gs>
                    <a:gs pos="100000">
                      <a:srgbClr val="0070C0"/>
                    </a:gs>
                  </a:gsLst>
                  <a:lin ang="10800000" scaled="1"/>
                </a:gradFill>
              </a:rPr>
              <a:t>直接竞争对手与替代品分析（企业参赛团队需提交）</a:t>
            </a:r>
            <a:endParaRPr kumimoji="0" lang="zh-CN" altLang="en-US" sz="2800" b="1" i="0" u="none" strike="noStrike" kern="1200" cap="none" spc="0" normalizeH="0" baseline="0" noProof="0" dirty="0">
              <a:ln>
                <a:noFill/>
              </a:ln>
              <a:gradFill>
                <a:gsLst>
                  <a:gs pos="0">
                    <a:srgbClr val="00B050"/>
                  </a:gs>
                  <a:gs pos="100000">
                    <a:srgbClr val="0070C0"/>
                  </a:gs>
                </a:gsLst>
                <a:lin ang="10800000" scaled="1"/>
              </a:gra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EB6C8A42-BE34-494B-9350-03DF35F7857A}"/>
              </a:ext>
            </a:extLst>
          </p:cNvPr>
          <p:cNvSpPr/>
          <p:nvPr/>
        </p:nvSpPr>
        <p:spPr>
          <a:xfrm>
            <a:off x="541654" y="1116840"/>
            <a:ext cx="3427565" cy="45719"/>
          </a:xfrm>
          <a:prstGeom prst="rect">
            <a:avLst/>
          </a:prstGeom>
          <a:gradFill>
            <a:gsLst>
              <a:gs pos="100000">
                <a:srgbClr val="F5DDA0">
                  <a:alpha val="0"/>
                </a:srgbClr>
              </a:gs>
              <a:gs pos="0">
                <a:srgbClr val="1D93E0">
                  <a:alpha val="0"/>
                </a:srgbClr>
              </a:gs>
              <a:gs pos="58000">
                <a:srgbClr val="F5DDA0"/>
              </a:gs>
              <a:gs pos="29000">
                <a:srgbClr val="1D93E0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85800" y="1234440"/>
            <a:ext cx="53949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5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· 国际预测性维护平台：功能全、算法成熟，但价格高、需联网/云，数据出厂的合规顾虑大。</a:t>
            </a:r>
          </a:p>
          <a:p>
            <a:pPr>
              <a:spcAft>
                <a:spcPts val="600"/>
              </a:spcAft>
            </a:pPr>
            <a:r>
              <a:rPr sz="135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· 通用工业 IoT 平台：擅长工艺全景与看板，但看不见设备级退化（本作品实测：沼气/能耗/出水对脱水机退化几乎无响应，±0.03%）。</a:t>
            </a:r>
          </a:p>
          <a:p>
            <a:pPr>
              <a:spcAft>
                <a:spcPts val="600"/>
              </a:spcAft>
            </a:pPr>
            <a:r>
              <a:rPr sz="135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· 传统咨询式检修：经验丰富但不可复制、不可量化、无法持续在线。</a:t>
            </a:r>
          </a:p>
          <a:p>
            <a:pPr>
              <a:spcAft>
                <a:spcPts val="600"/>
              </a:spcAft>
            </a:pPr>
            <a:r>
              <a:rPr sz="135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· 替代品：定期大修制度本身 —— 我们不以「取代它」为卖点，而是让检修计划按设备实际状态排。</a:t>
            </a:r>
          </a:p>
        </p:txBody>
      </p:sp>
    </p:spTree>
    <p:extLst>
      <p:ext uri="{BB962C8B-B14F-4D97-AF65-F5344CB8AC3E}">
        <p14:creationId xmlns:p14="http://schemas.microsoft.com/office/powerpoint/2010/main" val="260709761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436308"/>
            <a:ext cx="12192000" cy="1421692"/>
          </a:xfrm>
          <a:prstGeom prst="rect">
            <a:avLst/>
          </a:prstGeom>
        </p:spPr>
      </p:pic>
      <p:pic>
        <p:nvPicPr>
          <p:cNvPr id="3" name="图片 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40963" y="17822"/>
            <a:ext cx="5251037" cy="534579"/>
          </a:xfrm>
          <a:prstGeom prst="rect">
            <a:avLst/>
          </a:prstGeom>
        </p:spPr>
      </p:pic>
      <p:sp>
        <p:nvSpPr>
          <p:cNvPr id="4" name="文本框 3">
            <a:extLst>
              <a:ext uri="{FF2B5EF4-FFF2-40B4-BE49-F238E27FC236}">
                <a16:creationId xmlns:a16="http://schemas.microsoft.com/office/drawing/2014/main" id="{AB6CA7E9-597E-40CF-B350-BC562B495A39}"/>
              </a:ext>
            </a:extLst>
          </p:cNvPr>
          <p:cNvSpPr txBox="1"/>
          <p:nvPr/>
        </p:nvSpPr>
        <p:spPr>
          <a:xfrm>
            <a:off x="604887" y="553592"/>
            <a:ext cx="808426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>
              <a:defRPr sz="2800" b="1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>
                <a:gradFill>
                  <a:gsLst>
                    <a:gs pos="0">
                      <a:srgbClr val="00B050"/>
                    </a:gs>
                    <a:gs pos="100000">
                      <a:srgbClr val="0070C0"/>
                    </a:gs>
                  </a:gsLst>
                  <a:lin ang="10800000" scaled="1"/>
                </a:gradFill>
              </a:rPr>
              <a:t>项目竞争优势（技术壁垒、成本优势、差异化等）</a:t>
            </a:r>
            <a:endParaRPr kumimoji="0" lang="zh-CN" altLang="en-US" sz="2800" b="1" i="0" u="none" strike="noStrike" kern="1200" cap="none" spc="0" normalizeH="0" baseline="0" noProof="0" dirty="0">
              <a:ln>
                <a:noFill/>
              </a:ln>
              <a:gradFill>
                <a:gsLst>
                  <a:gs pos="0">
                    <a:srgbClr val="00B050"/>
                  </a:gs>
                  <a:gs pos="100000">
                    <a:srgbClr val="0070C0"/>
                  </a:gs>
                </a:gsLst>
                <a:lin ang="10800000" scaled="1"/>
              </a:gra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EB6C8A42-BE34-494B-9350-03DF35F7857A}"/>
              </a:ext>
            </a:extLst>
          </p:cNvPr>
          <p:cNvSpPr/>
          <p:nvPr/>
        </p:nvSpPr>
        <p:spPr>
          <a:xfrm>
            <a:off x="541654" y="1116840"/>
            <a:ext cx="3427565" cy="45719"/>
          </a:xfrm>
          <a:prstGeom prst="rect">
            <a:avLst/>
          </a:prstGeom>
          <a:gradFill>
            <a:gsLst>
              <a:gs pos="100000">
                <a:srgbClr val="F5DDA0">
                  <a:alpha val="0"/>
                </a:srgbClr>
              </a:gs>
              <a:gs pos="0">
                <a:srgbClr val="1D93E0">
                  <a:alpha val="0"/>
                </a:srgbClr>
              </a:gs>
              <a:gs pos="58000">
                <a:srgbClr val="F5DDA0"/>
              </a:gs>
              <a:gs pos="29000">
                <a:srgbClr val="1D93E0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85800" y="1234440"/>
            <a:ext cx="53949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5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· 机制层面把误报压下去：同召回下误报事件比对照实现少 2.8 倍（三层防误报）。</a:t>
            </a:r>
          </a:p>
          <a:p>
            <a:pPr>
              <a:spcAft>
                <a:spcPts val="600"/>
              </a:spcAft>
            </a:pPr>
            <a:r>
              <a:rPr sz="135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· 能发现别人看不见的设备级退化：整厂原始量检不出 → 设备级比值量 9.80 天检出。</a:t>
            </a:r>
          </a:p>
          <a:p>
            <a:pPr>
              <a:spcAft>
                <a:spcPts val="600"/>
              </a:spcAft>
            </a:pPr>
            <a:r>
              <a:rPr sz="135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· 现场能自己接数据：命令行 + 本地工作台 + 企业版报告，零外部依赖、可离线、数据不出厂。</a:t>
            </a:r>
          </a:p>
          <a:p>
            <a:pPr>
              <a:spcAft>
                <a:spcPts val="600"/>
              </a:spcAft>
            </a:pPr>
            <a:r>
              <a:rPr sz="135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· 数字可核查：四轮跨实现独立复核 + 冻结前数字总检 30/30 + 一键复现 39 阶段。</a:t>
            </a:r>
          </a:p>
        </p:txBody>
      </p:sp>
    </p:spTree>
    <p:extLst>
      <p:ext uri="{BB962C8B-B14F-4D97-AF65-F5344CB8AC3E}">
        <p14:creationId xmlns:p14="http://schemas.microsoft.com/office/powerpoint/2010/main" val="52579991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436308"/>
            <a:ext cx="12192000" cy="1421692"/>
          </a:xfrm>
          <a:prstGeom prst="rect">
            <a:avLst/>
          </a:prstGeom>
        </p:spPr>
      </p:pic>
      <p:pic>
        <p:nvPicPr>
          <p:cNvPr id="3" name="图片 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40963" y="17822"/>
            <a:ext cx="5251037" cy="534579"/>
          </a:xfrm>
          <a:prstGeom prst="rect">
            <a:avLst/>
          </a:prstGeom>
        </p:spPr>
      </p:pic>
      <p:sp>
        <p:nvSpPr>
          <p:cNvPr id="4" name="文本框 3">
            <a:extLst>
              <a:ext uri="{FF2B5EF4-FFF2-40B4-BE49-F238E27FC236}">
                <a16:creationId xmlns:a16="http://schemas.microsoft.com/office/drawing/2014/main" id="{AB6CA7E9-597E-40CF-B350-BC562B495A39}"/>
              </a:ext>
            </a:extLst>
          </p:cNvPr>
          <p:cNvSpPr txBox="1"/>
          <p:nvPr/>
        </p:nvSpPr>
        <p:spPr>
          <a:xfrm>
            <a:off x="604887" y="553592"/>
            <a:ext cx="377539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>
              <a:defRPr sz="2800" b="1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>
                <a:gradFill>
                  <a:gsLst>
                    <a:gs pos="0">
                      <a:srgbClr val="00B050"/>
                    </a:gs>
                    <a:gs pos="100000">
                      <a:srgbClr val="0070C0"/>
                    </a:gs>
                  </a:gsLst>
                  <a:lin ang="10800000" scaled="1"/>
                </a:gradFill>
              </a:rPr>
              <a:t>市场进入策略（如有）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EB6C8A42-BE34-494B-9350-03DF35F7857A}"/>
              </a:ext>
            </a:extLst>
          </p:cNvPr>
          <p:cNvSpPr/>
          <p:nvPr/>
        </p:nvSpPr>
        <p:spPr>
          <a:xfrm>
            <a:off x="541654" y="1116840"/>
            <a:ext cx="3427565" cy="45719"/>
          </a:xfrm>
          <a:prstGeom prst="rect">
            <a:avLst/>
          </a:prstGeom>
          <a:gradFill>
            <a:gsLst>
              <a:gs pos="100000">
                <a:srgbClr val="F5DDA0">
                  <a:alpha val="0"/>
                </a:srgbClr>
              </a:gs>
              <a:gs pos="0">
                <a:srgbClr val="1D93E0">
                  <a:alpha val="0"/>
                </a:srgbClr>
              </a:gs>
              <a:gs pos="58000">
                <a:srgbClr val="F5DDA0"/>
              </a:gs>
              <a:gs pos="29000">
                <a:srgbClr val="1D93E0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85800" y="1234440"/>
            <a:ext cx="53949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5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· 第一步：免费试点 1 台设备（建议鼓风机或污泥脱水机），出健康基线报告。</a:t>
            </a:r>
          </a:p>
          <a:p>
            <a:pPr>
              <a:spcAft>
                <a:spcPts val="600"/>
              </a:spcAft>
            </a:pPr>
            <a:r>
              <a:rPr sz="135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· 第二步：用含故障的历史段回放，给出「提前量 / 误报数」对照报告 —— 用数据而不是演示说服客户。</a:t>
            </a:r>
          </a:p>
          <a:p>
            <a:pPr>
              <a:spcAft>
                <a:spcPts val="600"/>
              </a:spcAft>
            </a:pPr>
            <a:r>
              <a:rPr sz="135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· 第三步：单厂多设备推广（鼓风机 / 脱水机 / 泵），再进入集团多厂复制。</a:t>
            </a:r>
          </a:p>
          <a:p>
            <a:pPr>
              <a:spcAft>
                <a:spcPts val="600"/>
              </a:spcAft>
            </a:pPr>
            <a:r>
              <a:rPr sz="135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· 切入渠道：水务集团技术部、市政设计院、设备厂商配套、大赛产业对接会。</a:t>
            </a:r>
          </a:p>
        </p:txBody>
      </p:sp>
      <p:pic>
        <p:nvPicPr>
          <p:cNvPr id="7" name="Picture 6" descr="figE_po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0" y="2480518"/>
            <a:ext cx="5577840" cy="16226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986606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436308"/>
            <a:ext cx="12192000" cy="1421692"/>
          </a:xfrm>
          <a:prstGeom prst="rect">
            <a:avLst/>
          </a:prstGeom>
        </p:spPr>
      </p:pic>
      <p:pic>
        <p:nvPicPr>
          <p:cNvPr id="3" name="图片 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40963" y="17822"/>
            <a:ext cx="5251037" cy="534579"/>
          </a:xfrm>
          <a:prstGeom prst="rect">
            <a:avLst/>
          </a:prstGeom>
        </p:spPr>
      </p:pic>
      <p:sp>
        <p:nvSpPr>
          <p:cNvPr id="4" name="文本框 3">
            <a:extLst>
              <a:ext uri="{FF2B5EF4-FFF2-40B4-BE49-F238E27FC236}">
                <a16:creationId xmlns:a16="http://schemas.microsoft.com/office/drawing/2014/main" id="{AB6CA7E9-597E-40CF-B350-BC562B495A39}"/>
              </a:ext>
            </a:extLst>
          </p:cNvPr>
          <p:cNvSpPr txBox="1"/>
          <p:nvPr/>
        </p:nvSpPr>
        <p:spPr>
          <a:xfrm>
            <a:off x="604887" y="553592"/>
            <a:ext cx="305724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>
              <a:defRPr sz="2800" b="1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>
                <a:gradFill>
                  <a:gsLst>
                    <a:gs pos="0">
                      <a:srgbClr val="00B050"/>
                    </a:gs>
                    <a:gs pos="100000">
                      <a:srgbClr val="0070C0"/>
                    </a:gs>
                  </a:gsLst>
                  <a:lin ang="10800000" scaled="1"/>
                </a:gradFill>
              </a:rPr>
              <a:t>营销渠道（如有）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EB6C8A42-BE34-494B-9350-03DF35F7857A}"/>
              </a:ext>
            </a:extLst>
          </p:cNvPr>
          <p:cNvSpPr/>
          <p:nvPr/>
        </p:nvSpPr>
        <p:spPr>
          <a:xfrm>
            <a:off x="541654" y="1116840"/>
            <a:ext cx="3427565" cy="45719"/>
          </a:xfrm>
          <a:prstGeom prst="rect">
            <a:avLst/>
          </a:prstGeom>
          <a:gradFill>
            <a:gsLst>
              <a:gs pos="100000">
                <a:srgbClr val="F5DDA0">
                  <a:alpha val="0"/>
                </a:srgbClr>
              </a:gs>
              <a:gs pos="0">
                <a:srgbClr val="1D93E0">
                  <a:alpha val="0"/>
                </a:srgbClr>
              </a:gs>
              <a:gs pos="58000">
                <a:srgbClr val="F5DDA0"/>
              </a:gs>
              <a:gs pos="29000">
                <a:srgbClr val="1D93E0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85800" y="1234440"/>
            <a:ext cx="53949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5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· 集团渠道：通过水务集团生产技术部做集团级试点与统一采购。</a:t>
            </a:r>
          </a:p>
          <a:p>
            <a:pPr>
              <a:spcAft>
                <a:spcPts val="600"/>
              </a:spcAft>
            </a:pPr>
            <a:r>
              <a:rPr sz="135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· 设计院渠道：在新建/改造项目中作为数字化配套方案进入设计清单。</a:t>
            </a:r>
          </a:p>
          <a:p>
            <a:pPr>
              <a:spcAft>
                <a:spcPts val="600"/>
              </a:spcAft>
            </a:pPr>
            <a:r>
              <a:rPr sz="135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· 设备厂商渠道：与鼓风机、脱水机厂商配套销售（我们提供软件与标定服务）。</a:t>
            </a:r>
          </a:p>
          <a:p>
            <a:pPr>
              <a:spcAft>
                <a:spcPts val="600"/>
              </a:spcAft>
            </a:pPr>
            <a:r>
              <a:rPr sz="135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· 大赛渠道：命题方北控水务的产业对接会与行业创新成果展（本次赛事提供的资源）。</a:t>
            </a:r>
          </a:p>
        </p:txBody>
      </p:sp>
    </p:spTree>
    <p:extLst>
      <p:ext uri="{BB962C8B-B14F-4D97-AF65-F5344CB8AC3E}">
        <p14:creationId xmlns:p14="http://schemas.microsoft.com/office/powerpoint/2010/main" val="275476287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26140" y="95949"/>
            <a:ext cx="5780926" cy="865053"/>
          </a:xfrm>
          <a:prstGeom prst="rect">
            <a:avLst/>
          </a:prstGeom>
        </p:spPr>
      </p:pic>
      <p:pic>
        <p:nvPicPr>
          <p:cNvPr id="3" name="图片 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6580" y="5809027"/>
            <a:ext cx="3719245" cy="942971"/>
          </a:xfrm>
          <a:prstGeom prst="rect">
            <a:avLst/>
          </a:prstGeom>
        </p:spPr>
      </p:pic>
      <p:sp>
        <p:nvSpPr>
          <p:cNvPr id="4" name="文本框 3"/>
          <p:cNvSpPr txBox="1"/>
          <p:nvPr/>
        </p:nvSpPr>
        <p:spPr>
          <a:xfrm>
            <a:off x="1212684" y="1897225"/>
            <a:ext cx="1481496" cy="98834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4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目 录</a:t>
            </a:r>
            <a:endParaRPr kumimoji="0" lang="zh-CN" altLang="en-US" sz="18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64ACE34-6F90-4F57-AF43-66FF01CC7965}"/>
              </a:ext>
            </a:extLst>
          </p:cNvPr>
          <p:cNvSpPr txBox="1"/>
          <p:nvPr/>
        </p:nvSpPr>
        <p:spPr>
          <a:xfrm>
            <a:off x="4196550" y="1187369"/>
            <a:ext cx="4647426" cy="44590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>
              <a:defRPr sz="2800" b="1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marL="457200" marR="0" indent="-457200" fontAlgn="auto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n"/>
              <a:tabLst/>
              <a:defRPr/>
            </a:pPr>
            <a:r>
              <a:rPr lang="zh-CN" altLang="en-US" sz="2400" dirty="0">
                <a:solidFill>
                  <a:prstClr val="white"/>
                </a:solidFill>
              </a:rPr>
              <a:t>项目概述</a:t>
            </a:r>
            <a:endParaRPr lang="en-US" altLang="zh-CN" sz="2400" dirty="0">
              <a:solidFill>
                <a:prstClr val="white"/>
              </a:solidFill>
            </a:endParaRP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2400" dirty="0">
                <a:solidFill>
                  <a:prstClr val="white"/>
                </a:solidFill>
              </a:rPr>
              <a:t>产品</a:t>
            </a:r>
            <a:r>
              <a:rPr lang="en-US" altLang="zh-CN" sz="2400" dirty="0">
                <a:solidFill>
                  <a:prstClr val="white"/>
                </a:solidFill>
              </a:rPr>
              <a:t>/</a:t>
            </a:r>
            <a:r>
              <a:rPr lang="zh-CN" altLang="en-US" sz="2400" dirty="0">
                <a:solidFill>
                  <a:prstClr val="white"/>
                </a:solidFill>
              </a:rPr>
              <a:t>服务设计</a:t>
            </a:r>
            <a:endParaRPr lang="en-US" altLang="zh-CN" sz="2400" dirty="0">
              <a:solidFill>
                <a:prstClr val="white"/>
              </a:solidFill>
            </a:endParaRP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2400" dirty="0">
                <a:solidFill>
                  <a:prstClr val="white"/>
                </a:solidFill>
              </a:rPr>
              <a:t>市场营销分析</a:t>
            </a:r>
            <a:endParaRPr lang="en-US" altLang="zh-CN" sz="2400" dirty="0">
              <a:solidFill>
                <a:prstClr val="white"/>
              </a:solidFill>
            </a:endParaRP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2400" dirty="0">
                <a:solidFill>
                  <a:srgbClr val="002060"/>
                </a:solidFill>
              </a:rPr>
              <a:t>商业模式和财务分析（如有）</a:t>
            </a:r>
            <a:endParaRPr lang="en-US" altLang="zh-CN" sz="2400" dirty="0">
              <a:solidFill>
                <a:srgbClr val="002060"/>
              </a:solidFill>
            </a:endParaRPr>
          </a:p>
          <a:p>
            <a:pPr marL="457200" lvl="0" indent="-45720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2400" dirty="0">
                <a:solidFill>
                  <a:prstClr val="white"/>
                </a:solidFill>
              </a:rPr>
              <a:t>实施计划</a:t>
            </a:r>
            <a:endParaRPr lang="en-US" altLang="zh-CN" sz="2400" dirty="0">
              <a:solidFill>
                <a:prstClr val="white"/>
              </a:solidFill>
            </a:endParaRPr>
          </a:p>
          <a:p>
            <a:pPr marL="457200" lvl="0" indent="-45720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2400" dirty="0">
                <a:solidFill>
                  <a:prstClr val="white"/>
                </a:solidFill>
              </a:rPr>
              <a:t>风险分析与对策</a:t>
            </a:r>
            <a:endParaRPr lang="en-US" altLang="zh-CN" sz="2400" dirty="0">
              <a:solidFill>
                <a:prstClr val="white"/>
              </a:solidFill>
            </a:endParaRPr>
          </a:p>
          <a:p>
            <a:pPr marL="457200" lvl="0" indent="-45720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2400" dirty="0">
                <a:solidFill>
                  <a:prstClr val="white"/>
                </a:solidFill>
              </a:rPr>
              <a:t>公司</a:t>
            </a:r>
            <a:r>
              <a:rPr lang="en-US" altLang="zh-CN" sz="2400" dirty="0">
                <a:solidFill>
                  <a:prstClr val="white"/>
                </a:solidFill>
              </a:rPr>
              <a:t>/</a:t>
            </a:r>
            <a:r>
              <a:rPr lang="zh-CN" altLang="en-US" sz="2400" dirty="0">
                <a:solidFill>
                  <a:prstClr val="white"/>
                </a:solidFill>
              </a:rPr>
              <a:t>团队介绍</a:t>
            </a:r>
            <a:endParaRPr lang="en-US" altLang="zh-CN" sz="2400" dirty="0">
              <a:solidFill>
                <a:prstClr val="white"/>
              </a:solidFill>
            </a:endParaRPr>
          </a:p>
          <a:p>
            <a:pPr marL="457200" lvl="0" indent="-45720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2400" dirty="0">
                <a:solidFill>
                  <a:prstClr val="white"/>
                </a:solidFill>
              </a:rPr>
              <a:t>附录</a:t>
            </a:r>
            <a:endParaRPr kumimoji="0" lang="zh-CN" altLang="en-US" sz="24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338368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436308"/>
            <a:ext cx="12192000" cy="1421692"/>
          </a:xfrm>
          <a:prstGeom prst="rect">
            <a:avLst/>
          </a:prstGeom>
        </p:spPr>
      </p:pic>
      <p:pic>
        <p:nvPicPr>
          <p:cNvPr id="3" name="图片 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40963" y="17822"/>
            <a:ext cx="5251037" cy="534579"/>
          </a:xfrm>
          <a:prstGeom prst="rect">
            <a:avLst/>
          </a:prstGeom>
        </p:spPr>
      </p:pic>
      <p:sp>
        <p:nvSpPr>
          <p:cNvPr id="4" name="文本框 3">
            <a:extLst>
              <a:ext uri="{FF2B5EF4-FFF2-40B4-BE49-F238E27FC236}">
                <a16:creationId xmlns:a16="http://schemas.microsoft.com/office/drawing/2014/main" id="{AB6CA7E9-597E-40CF-B350-BC562B495A39}"/>
              </a:ext>
            </a:extLst>
          </p:cNvPr>
          <p:cNvSpPr txBox="1"/>
          <p:nvPr/>
        </p:nvSpPr>
        <p:spPr>
          <a:xfrm>
            <a:off x="604887" y="553592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>
              <a:defRPr sz="2800" b="1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>
                <a:gradFill>
                  <a:gsLst>
                    <a:gs pos="0">
                      <a:srgbClr val="00B050"/>
                    </a:gs>
                    <a:gs pos="100000">
                      <a:srgbClr val="0070C0"/>
                    </a:gs>
                  </a:gsLst>
                  <a:lin ang="10800000" scaled="1"/>
                </a:gradFill>
              </a:rPr>
              <a:t>盈利模式</a:t>
            </a:r>
            <a:endParaRPr kumimoji="0" lang="zh-CN" altLang="en-US" sz="2800" b="1" i="0" u="none" strike="noStrike" kern="1200" cap="none" spc="0" normalizeH="0" baseline="0" noProof="0" dirty="0">
              <a:ln>
                <a:noFill/>
              </a:ln>
              <a:gradFill>
                <a:gsLst>
                  <a:gs pos="0">
                    <a:srgbClr val="00B050"/>
                  </a:gs>
                  <a:gs pos="100000">
                    <a:srgbClr val="0070C0"/>
                  </a:gs>
                </a:gsLst>
                <a:lin ang="10800000" scaled="1"/>
              </a:gra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EB6C8A42-BE34-494B-9350-03DF35F7857A}"/>
              </a:ext>
            </a:extLst>
          </p:cNvPr>
          <p:cNvSpPr/>
          <p:nvPr/>
        </p:nvSpPr>
        <p:spPr>
          <a:xfrm>
            <a:off x="541654" y="1116840"/>
            <a:ext cx="3427565" cy="45719"/>
          </a:xfrm>
          <a:prstGeom prst="rect">
            <a:avLst/>
          </a:prstGeom>
          <a:gradFill>
            <a:gsLst>
              <a:gs pos="100000">
                <a:srgbClr val="F5DDA0">
                  <a:alpha val="0"/>
                </a:srgbClr>
              </a:gs>
              <a:gs pos="0">
                <a:srgbClr val="1D93E0">
                  <a:alpha val="0"/>
                </a:srgbClr>
              </a:gs>
              <a:gs pos="58000">
                <a:srgbClr val="F5DDA0"/>
              </a:gs>
              <a:gs pos="29000">
                <a:srgbClr val="1D93E0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C056C6A5-DED5-4A55-8C1E-CD84752B5ED3}"/>
              </a:ext>
            </a:extLst>
          </p:cNvPr>
          <p:cNvSpPr/>
          <p:nvPr/>
        </p:nvSpPr>
        <p:spPr>
          <a:xfrm>
            <a:off x="685800" y="1234440"/>
            <a:ext cx="5394960" cy="39319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 algn="just">
              <a:lnSpc>
                <a:spcPct val="150000"/>
              </a:lnSpc>
              <a:spcAft>
                <a:spcPts val="600"/>
              </a:spcAft>
              <a:buSzPts val="1400"/>
              <a:buFont typeface="Wingdings" panose="05000000000000000000" pitchFamily="2" charset="2"/>
              <a:buChar char=""/>
            </a:pPr>
            <a:r>
              <a:rPr sz="135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· 收入一：按设备数收取软件订阅年费（含更新与技术支持）。</a:t>
            </a:r>
            <a:endParaRPr lang="zh-CN" altLang="zh-CN" sz="1400" kern="100" dirty="0">
              <a:solidFill>
                <a:schemeClr val="bg2">
                  <a:lumMod val="50000"/>
                </a:schemeClr>
              </a:solidFill>
              <a:effectLst/>
              <a:latin typeface="Calibri" panose="020F0502020204030204" pitchFamily="34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>
              <a:spcAft>
                <a:spcPts val="600"/>
              </a:spcAft>
            </a:pPr>
            <a:r>
              <a:rPr sz="135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· 收入二：一次性接入标定服务（数据接入 + 基线标定 + 首份健康报告）。</a:t>
            </a:r>
          </a:p>
          <a:p>
            <a:pPr>
              <a:spcAft>
                <a:spcPts val="600"/>
              </a:spcAft>
            </a:pPr>
            <a:r>
              <a:rPr sz="135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· 收入三（可选）：集团级部署、培训与定制开发。</a:t>
            </a:r>
          </a:p>
          <a:p>
            <a:pPr>
              <a:spcAft>
                <a:spcPts val="600"/>
              </a:spcAft>
            </a:pPr>
            <a:r>
              <a:rPr sz="135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· 定价依据：以「单台设备一次非计划停机的损失」为价值上限，按设备数与服务深度分档；具体价格待企业成本参数标定。</a:t>
            </a:r>
          </a:p>
        </p:txBody>
      </p:sp>
    </p:spTree>
    <p:extLst>
      <p:ext uri="{BB962C8B-B14F-4D97-AF65-F5344CB8AC3E}">
        <p14:creationId xmlns:p14="http://schemas.microsoft.com/office/powerpoint/2010/main" val="18639405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436308"/>
            <a:ext cx="12192000" cy="1421692"/>
          </a:xfrm>
          <a:prstGeom prst="rect">
            <a:avLst/>
          </a:prstGeom>
        </p:spPr>
      </p:pic>
      <p:pic>
        <p:nvPicPr>
          <p:cNvPr id="3" name="图片 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40963" y="17822"/>
            <a:ext cx="5251037" cy="534579"/>
          </a:xfrm>
          <a:prstGeom prst="rect">
            <a:avLst/>
          </a:prstGeom>
        </p:spPr>
      </p:pic>
      <p:sp>
        <p:nvSpPr>
          <p:cNvPr id="4" name="文本框 3">
            <a:extLst>
              <a:ext uri="{FF2B5EF4-FFF2-40B4-BE49-F238E27FC236}">
                <a16:creationId xmlns:a16="http://schemas.microsoft.com/office/drawing/2014/main" id="{AB6CA7E9-597E-40CF-B350-BC562B495A39}"/>
              </a:ext>
            </a:extLst>
          </p:cNvPr>
          <p:cNvSpPr txBox="1"/>
          <p:nvPr/>
        </p:nvSpPr>
        <p:spPr>
          <a:xfrm>
            <a:off x="604887" y="553592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>
              <a:defRPr sz="2800" b="1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kumimoji="0" lang="zh-CN" altLang="en-US" sz="2800" b="1" i="0" u="none" strike="noStrike" kern="1200" cap="none" spc="0" normalizeH="0" baseline="0" noProof="0" dirty="0">
                <a:ln>
                  <a:noFill/>
                </a:ln>
                <a:gradFill>
                  <a:gsLst>
                    <a:gs pos="0">
                      <a:srgbClr val="00B050"/>
                    </a:gs>
                    <a:gs pos="100000">
                      <a:srgbClr val="0070C0"/>
                    </a:gs>
                  </a:gsLst>
                  <a:lin ang="10800000" scaled="1"/>
                </a:gra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财务预测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EB6C8A42-BE34-494B-9350-03DF35F7857A}"/>
              </a:ext>
            </a:extLst>
          </p:cNvPr>
          <p:cNvSpPr/>
          <p:nvPr/>
        </p:nvSpPr>
        <p:spPr>
          <a:xfrm>
            <a:off x="541654" y="1116840"/>
            <a:ext cx="3427565" cy="45719"/>
          </a:xfrm>
          <a:prstGeom prst="rect">
            <a:avLst/>
          </a:prstGeom>
          <a:gradFill>
            <a:gsLst>
              <a:gs pos="100000">
                <a:srgbClr val="F5DDA0">
                  <a:alpha val="0"/>
                </a:srgbClr>
              </a:gs>
              <a:gs pos="0">
                <a:srgbClr val="1D93E0">
                  <a:alpha val="0"/>
                </a:srgbClr>
              </a:gs>
              <a:gs pos="58000">
                <a:srgbClr val="F5DDA0"/>
              </a:gs>
              <a:gs pos="29000">
                <a:srgbClr val="1D93E0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C056C6A5-DED5-4A55-8C1E-CD84752B5ED3}"/>
              </a:ext>
            </a:extLst>
          </p:cNvPr>
          <p:cNvSpPr/>
          <p:nvPr/>
        </p:nvSpPr>
        <p:spPr>
          <a:xfrm>
            <a:off x="685800" y="1234440"/>
            <a:ext cx="5394960" cy="39319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 algn="just">
              <a:lnSpc>
                <a:spcPct val="150000"/>
              </a:lnSpc>
              <a:spcAft>
                <a:spcPts val="600"/>
              </a:spcAft>
              <a:buSzPts val="1400"/>
              <a:buFont typeface="Wingdings" panose="05000000000000000000" pitchFamily="2" charset="2"/>
              <a:buChar char=""/>
            </a:pPr>
            <a:r>
              <a:rPr sz="135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· 成本结构：研发与维护（人力为主）、试点交付（差旅与实施）、部署与支持（轻资产、无硬件）。</a:t>
            </a:r>
          </a:p>
          <a:p>
            <a:pPr>
              <a:spcAft>
                <a:spcPts val="600"/>
              </a:spcAft>
            </a:pPr>
            <a:r>
              <a:rPr sz="135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· 收入结构：试点转付费率 × 单厂设备数 × 年费（+ 一次性接入标定服务）。</a:t>
            </a:r>
          </a:p>
          <a:p>
            <a:pPr>
              <a:spcAft>
                <a:spcPts val="600"/>
              </a:spcAft>
            </a:pPr>
            <a:r>
              <a:rPr sz="135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· 关键指标口径：毛利率、客户获取成本、续费率、单厂回本周期。</a:t>
            </a:r>
          </a:p>
          <a:p>
            <a:pPr>
              <a:spcAft>
                <a:spcPts val="600"/>
              </a:spcAft>
            </a:pPr>
            <a:r>
              <a:rPr sz="135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· 说明：本项目所有金额均为占位值，需用企业现场成本参数（失效损失 / 计划更换费用 / 剩余寿命折算）标定后再填报。</a:t>
            </a:r>
          </a:p>
        </p:txBody>
      </p:sp>
    </p:spTree>
    <p:extLst>
      <p:ext uri="{BB962C8B-B14F-4D97-AF65-F5344CB8AC3E}">
        <p14:creationId xmlns:p14="http://schemas.microsoft.com/office/powerpoint/2010/main" val="374269861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436308"/>
            <a:ext cx="12192000" cy="1421692"/>
          </a:xfrm>
          <a:prstGeom prst="rect">
            <a:avLst/>
          </a:prstGeom>
        </p:spPr>
      </p:pic>
      <p:pic>
        <p:nvPicPr>
          <p:cNvPr id="3" name="图片 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40963" y="17822"/>
            <a:ext cx="5251037" cy="534579"/>
          </a:xfrm>
          <a:prstGeom prst="rect">
            <a:avLst/>
          </a:prstGeom>
        </p:spPr>
      </p:pic>
      <p:sp>
        <p:nvSpPr>
          <p:cNvPr id="4" name="文本框 3">
            <a:extLst>
              <a:ext uri="{FF2B5EF4-FFF2-40B4-BE49-F238E27FC236}">
                <a16:creationId xmlns:a16="http://schemas.microsoft.com/office/drawing/2014/main" id="{AB6CA7E9-597E-40CF-B350-BC562B495A39}"/>
              </a:ext>
            </a:extLst>
          </p:cNvPr>
          <p:cNvSpPr txBox="1"/>
          <p:nvPr/>
        </p:nvSpPr>
        <p:spPr>
          <a:xfrm>
            <a:off x="604887" y="553592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>
              <a:defRPr sz="2800" b="1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>
                <a:gradFill>
                  <a:gsLst>
                    <a:gs pos="0">
                      <a:srgbClr val="00B050"/>
                    </a:gs>
                    <a:gs pos="100000">
                      <a:srgbClr val="0070C0"/>
                    </a:gs>
                  </a:gsLst>
                  <a:lin ang="10800000" scaled="1"/>
                </a:gradFill>
              </a:rPr>
              <a:t>融资计划</a:t>
            </a:r>
            <a:endParaRPr kumimoji="0" lang="zh-CN" altLang="en-US" sz="2800" b="1" i="0" u="none" strike="noStrike" kern="1200" cap="none" spc="0" normalizeH="0" baseline="0" noProof="0" dirty="0">
              <a:ln>
                <a:noFill/>
              </a:ln>
              <a:gradFill>
                <a:gsLst>
                  <a:gs pos="0">
                    <a:srgbClr val="00B050"/>
                  </a:gs>
                  <a:gs pos="100000">
                    <a:srgbClr val="0070C0"/>
                  </a:gs>
                </a:gsLst>
                <a:lin ang="10800000" scaled="1"/>
              </a:gra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EB6C8A42-BE34-494B-9350-03DF35F7857A}"/>
              </a:ext>
            </a:extLst>
          </p:cNvPr>
          <p:cNvSpPr/>
          <p:nvPr/>
        </p:nvSpPr>
        <p:spPr>
          <a:xfrm>
            <a:off x="541654" y="1116840"/>
            <a:ext cx="3427565" cy="45719"/>
          </a:xfrm>
          <a:prstGeom prst="rect">
            <a:avLst/>
          </a:prstGeom>
          <a:gradFill>
            <a:gsLst>
              <a:gs pos="100000">
                <a:srgbClr val="F5DDA0">
                  <a:alpha val="0"/>
                </a:srgbClr>
              </a:gs>
              <a:gs pos="0">
                <a:srgbClr val="1D93E0">
                  <a:alpha val="0"/>
                </a:srgbClr>
              </a:gs>
              <a:gs pos="58000">
                <a:srgbClr val="F5DDA0"/>
              </a:gs>
              <a:gs pos="29000">
                <a:srgbClr val="1D93E0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C056C6A5-DED5-4A55-8C1E-CD84752B5ED3}"/>
              </a:ext>
            </a:extLst>
          </p:cNvPr>
          <p:cNvSpPr/>
          <p:nvPr/>
        </p:nvSpPr>
        <p:spPr>
          <a:xfrm>
            <a:off x="685800" y="1234440"/>
            <a:ext cx="5394960" cy="39319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 algn="just">
              <a:lnSpc>
                <a:spcPct val="150000"/>
              </a:lnSpc>
              <a:spcAft>
                <a:spcPts val="600"/>
              </a:spcAft>
              <a:buSzPts val="1400"/>
              <a:buFont typeface="Wingdings" panose="05000000000000000000" pitchFamily="2" charset="2"/>
              <a:buChar char=""/>
            </a:pPr>
            <a:r>
              <a:rPr sz="135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· 当前阶段：无外部融资需求 —— 纯软件研发，自筹 + 大赛奖金即可覆盖。</a:t>
            </a:r>
            <a:endParaRPr lang="zh-CN" altLang="zh-CN" sz="1400" kern="100" dirty="0">
              <a:solidFill>
                <a:schemeClr val="bg2">
                  <a:lumMod val="50000"/>
                </a:schemeClr>
              </a:solidFill>
              <a:effectLst/>
              <a:latin typeface="Calibri" panose="020F0502020204030204" pitchFamily="34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>
              <a:spcAft>
                <a:spcPts val="600"/>
              </a:spcAft>
            </a:pPr>
            <a:r>
              <a:rPr sz="135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· 若启动试点：资金用于试点实施与交付人力（非重资产投入）。</a:t>
            </a:r>
          </a:p>
          <a:p>
            <a:pPr>
              <a:spcAft>
                <a:spcPts val="600"/>
              </a:spcAft>
            </a:pPr>
            <a:r>
              <a:rPr sz="135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· 融资用途（如发生）：产品化（多设备类型、多源冗余与漂移监控）、试点交付、市场与渠道建设。</a:t>
            </a:r>
          </a:p>
        </p:txBody>
      </p:sp>
    </p:spTree>
    <p:extLst>
      <p:ext uri="{BB962C8B-B14F-4D97-AF65-F5344CB8AC3E}">
        <p14:creationId xmlns:p14="http://schemas.microsoft.com/office/powerpoint/2010/main" val="423296856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26140" y="95949"/>
            <a:ext cx="5780926" cy="865053"/>
          </a:xfrm>
          <a:prstGeom prst="rect">
            <a:avLst/>
          </a:prstGeom>
        </p:spPr>
      </p:pic>
      <p:pic>
        <p:nvPicPr>
          <p:cNvPr id="3" name="图片 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6580" y="5809027"/>
            <a:ext cx="3719245" cy="942971"/>
          </a:xfrm>
          <a:prstGeom prst="rect">
            <a:avLst/>
          </a:prstGeom>
        </p:spPr>
      </p:pic>
      <p:sp>
        <p:nvSpPr>
          <p:cNvPr id="4" name="文本框 3"/>
          <p:cNvSpPr txBox="1"/>
          <p:nvPr/>
        </p:nvSpPr>
        <p:spPr>
          <a:xfrm>
            <a:off x="1212684" y="1897225"/>
            <a:ext cx="1481496" cy="98834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4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目 录</a:t>
            </a:r>
            <a:endParaRPr kumimoji="0" lang="zh-CN" altLang="en-US" sz="18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64ACE34-6F90-4F57-AF43-66FF01CC7965}"/>
              </a:ext>
            </a:extLst>
          </p:cNvPr>
          <p:cNvSpPr txBox="1"/>
          <p:nvPr/>
        </p:nvSpPr>
        <p:spPr>
          <a:xfrm>
            <a:off x="4196550" y="1187369"/>
            <a:ext cx="4647426" cy="44590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>
              <a:defRPr sz="2800" b="1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marL="457200" marR="0" indent="-457200" fontAlgn="auto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n"/>
              <a:tabLst/>
              <a:defRPr/>
            </a:pPr>
            <a:r>
              <a:rPr lang="zh-CN" altLang="en-US" sz="2400" dirty="0">
                <a:solidFill>
                  <a:prstClr val="white"/>
                </a:solidFill>
              </a:rPr>
              <a:t>项目概述</a:t>
            </a:r>
            <a:endParaRPr lang="en-US" altLang="zh-CN" sz="2400" dirty="0">
              <a:solidFill>
                <a:prstClr val="white"/>
              </a:solidFill>
            </a:endParaRP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2400" dirty="0">
                <a:solidFill>
                  <a:prstClr val="white"/>
                </a:solidFill>
              </a:rPr>
              <a:t>产品</a:t>
            </a:r>
            <a:r>
              <a:rPr lang="en-US" altLang="zh-CN" sz="2400" dirty="0">
                <a:solidFill>
                  <a:prstClr val="white"/>
                </a:solidFill>
              </a:rPr>
              <a:t>/</a:t>
            </a:r>
            <a:r>
              <a:rPr lang="zh-CN" altLang="en-US" sz="2400" dirty="0">
                <a:solidFill>
                  <a:prstClr val="white"/>
                </a:solidFill>
              </a:rPr>
              <a:t>服务设计</a:t>
            </a:r>
            <a:endParaRPr lang="en-US" altLang="zh-CN" sz="2400" dirty="0">
              <a:solidFill>
                <a:prstClr val="white"/>
              </a:solidFill>
            </a:endParaRP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2400" dirty="0">
                <a:solidFill>
                  <a:prstClr val="white"/>
                </a:solidFill>
              </a:rPr>
              <a:t>市场营销分析</a:t>
            </a:r>
            <a:endParaRPr lang="en-US" altLang="zh-CN" sz="2400" dirty="0">
              <a:solidFill>
                <a:prstClr val="white"/>
              </a:solidFill>
            </a:endParaRP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2400" dirty="0">
                <a:solidFill>
                  <a:prstClr val="white"/>
                </a:solidFill>
              </a:rPr>
              <a:t>商业模式和财务分析（如有）</a:t>
            </a:r>
            <a:endParaRPr lang="en-US" altLang="zh-CN" sz="2400" dirty="0">
              <a:solidFill>
                <a:prstClr val="white"/>
              </a:solidFill>
            </a:endParaRPr>
          </a:p>
          <a:p>
            <a:pPr marL="457200" lvl="0" indent="-45720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2400" dirty="0">
                <a:solidFill>
                  <a:srgbClr val="002060"/>
                </a:solidFill>
              </a:rPr>
              <a:t>实施计划</a:t>
            </a:r>
            <a:endParaRPr lang="en-US" altLang="zh-CN" sz="2400" dirty="0">
              <a:solidFill>
                <a:srgbClr val="002060"/>
              </a:solidFill>
            </a:endParaRPr>
          </a:p>
          <a:p>
            <a:pPr marL="457200" lvl="0" indent="-45720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2400" dirty="0">
                <a:solidFill>
                  <a:prstClr val="white"/>
                </a:solidFill>
              </a:rPr>
              <a:t>风险分析与对策</a:t>
            </a:r>
            <a:endParaRPr lang="en-US" altLang="zh-CN" sz="2400" dirty="0">
              <a:solidFill>
                <a:prstClr val="white"/>
              </a:solidFill>
            </a:endParaRPr>
          </a:p>
          <a:p>
            <a:pPr marL="457200" lvl="0" indent="-45720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2400" dirty="0">
                <a:solidFill>
                  <a:prstClr val="white"/>
                </a:solidFill>
              </a:rPr>
              <a:t>公司</a:t>
            </a:r>
            <a:r>
              <a:rPr lang="en-US" altLang="zh-CN" sz="2400" dirty="0">
                <a:solidFill>
                  <a:prstClr val="white"/>
                </a:solidFill>
              </a:rPr>
              <a:t>/</a:t>
            </a:r>
            <a:r>
              <a:rPr lang="zh-CN" altLang="en-US" sz="2400" dirty="0">
                <a:solidFill>
                  <a:prstClr val="white"/>
                </a:solidFill>
              </a:rPr>
              <a:t>团队介绍</a:t>
            </a:r>
            <a:endParaRPr lang="en-US" altLang="zh-CN" sz="2400" dirty="0">
              <a:solidFill>
                <a:prstClr val="white"/>
              </a:solidFill>
            </a:endParaRPr>
          </a:p>
          <a:p>
            <a:pPr marL="457200" lvl="0" indent="-45720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2400" dirty="0">
                <a:solidFill>
                  <a:prstClr val="white"/>
                </a:solidFill>
              </a:rPr>
              <a:t>附录</a:t>
            </a:r>
            <a:endParaRPr kumimoji="0" lang="zh-CN" altLang="en-US" sz="24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2376045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436308"/>
            <a:ext cx="12192000" cy="1421692"/>
          </a:xfrm>
          <a:prstGeom prst="rect">
            <a:avLst/>
          </a:prstGeom>
        </p:spPr>
      </p:pic>
      <p:pic>
        <p:nvPicPr>
          <p:cNvPr id="3" name="图片 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40963" y="17822"/>
            <a:ext cx="5251037" cy="534579"/>
          </a:xfrm>
          <a:prstGeom prst="rect">
            <a:avLst/>
          </a:prstGeom>
        </p:spPr>
      </p:pic>
      <p:sp>
        <p:nvSpPr>
          <p:cNvPr id="4" name="文本框 3">
            <a:extLst>
              <a:ext uri="{FF2B5EF4-FFF2-40B4-BE49-F238E27FC236}">
                <a16:creationId xmlns:a16="http://schemas.microsoft.com/office/drawing/2014/main" id="{AB6CA7E9-597E-40CF-B350-BC562B495A39}"/>
              </a:ext>
            </a:extLst>
          </p:cNvPr>
          <p:cNvSpPr txBox="1"/>
          <p:nvPr/>
        </p:nvSpPr>
        <p:spPr>
          <a:xfrm>
            <a:off x="604887" y="553592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>
              <a:defRPr sz="2800" b="1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>
                <a:gradFill>
                  <a:gsLst>
                    <a:gs pos="0">
                      <a:srgbClr val="00B050"/>
                    </a:gs>
                    <a:gs pos="100000">
                      <a:srgbClr val="0070C0"/>
                    </a:gs>
                  </a:gsLst>
                  <a:lin ang="10800000" scaled="1"/>
                </a:gradFill>
              </a:rPr>
              <a:t>当前进展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EB6C8A42-BE34-494B-9350-03DF35F7857A}"/>
              </a:ext>
            </a:extLst>
          </p:cNvPr>
          <p:cNvSpPr/>
          <p:nvPr/>
        </p:nvSpPr>
        <p:spPr>
          <a:xfrm>
            <a:off x="541654" y="1116840"/>
            <a:ext cx="3427565" cy="45719"/>
          </a:xfrm>
          <a:prstGeom prst="rect">
            <a:avLst/>
          </a:prstGeom>
          <a:gradFill>
            <a:gsLst>
              <a:gs pos="100000">
                <a:srgbClr val="F5DDA0">
                  <a:alpha val="0"/>
                </a:srgbClr>
              </a:gs>
              <a:gs pos="0">
                <a:srgbClr val="1D93E0">
                  <a:alpha val="0"/>
                </a:srgbClr>
              </a:gs>
              <a:gs pos="58000">
                <a:srgbClr val="F5DDA0"/>
              </a:gs>
              <a:gs pos="29000">
                <a:srgbClr val="1D93E0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598FFFCB-266C-4409-86A6-2C7B3C37F7BA}"/>
              </a:ext>
            </a:extLst>
          </p:cNvPr>
          <p:cNvSpPr/>
          <p:nvPr/>
        </p:nvSpPr>
        <p:spPr>
          <a:xfrm>
            <a:off x="685800" y="1234440"/>
            <a:ext cx="5394960" cy="39319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 algn="just">
              <a:lnSpc>
                <a:spcPct val="150000"/>
              </a:lnSpc>
              <a:spcAft>
                <a:spcPts val="600"/>
              </a:spcAft>
              <a:buSzPts val="1400"/>
              <a:buFont typeface="Wingdings" panose="05000000000000000000" pitchFamily="2" charset="2"/>
              <a:buChar char=""/>
            </a:pPr>
            <a:r>
              <a:rPr sz="135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· 技术侧已冻结待命：四段链路 + 两套机理仿真（BSM1 / BSM2 整厂）+ 两套真实数据验证（水泵台架 / 地铁空压机 214 天）。</a:t>
            </a:r>
            <a:endParaRPr lang="zh-CN" altLang="zh-CN" sz="1400" kern="100" dirty="0">
              <a:solidFill>
                <a:schemeClr val="bg2">
                  <a:lumMod val="50000"/>
                </a:schemeClr>
              </a:solidFill>
              <a:effectLst/>
              <a:latin typeface="Calibri" panose="020F0502020204030204" pitchFamily="34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>
              <a:spcAft>
                <a:spcPts val="600"/>
              </a:spcAft>
            </a:pPr>
            <a:r>
              <a:rPr sz="135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· 可信度建设：四轮跨实现独立复核（问题全部回写）+ 冻结前数字总检 30/30 + 一键复现 39 阶段。</a:t>
            </a:r>
          </a:p>
          <a:p>
            <a:pPr>
              <a:spcAft>
                <a:spcPts val="600"/>
              </a:spcAft>
            </a:pPr>
            <a:r>
              <a:rPr sz="135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· 交付物：项目说明书（Word）、商业计划书（PPT）、本地工作台、企业版报告、线上演示页。</a:t>
            </a:r>
          </a:p>
          <a:p>
            <a:pPr>
              <a:spcAft>
                <a:spcPts val="600"/>
              </a:spcAft>
            </a:pPr>
            <a:r>
              <a:rPr sz="135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· 待补：真实污水厂试点数据（正在申请）、企业成本参数。</a:t>
            </a:r>
          </a:p>
        </p:txBody>
      </p:sp>
      <p:pic>
        <p:nvPicPr>
          <p:cNvPr id="7" name="Picture 6" descr="s6_workben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54850" y="1371600"/>
            <a:ext cx="3686860" cy="3840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183866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436308"/>
            <a:ext cx="12192000" cy="1421692"/>
          </a:xfrm>
          <a:prstGeom prst="rect">
            <a:avLst/>
          </a:prstGeom>
        </p:spPr>
      </p:pic>
      <p:pic>
        <p:nvPicPr>
          <p:cNvPr id="3" name="图片 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40963" y="17822"/>
            <a:ext cx="5251037" cy="534579"/>
          </a:xfrm>
          <a:prstGeom prst="rect">
            <a:avLst/>
          </a:prstGeom>
        </p:spPr>
      </p:pic>
      <p:sp>
        <p:nvSpPr>
          <p:cNvPr id="4" name="文本框 3">
            <a:extLst>
              <a:ext uri="{FF2B5EF4-FFF2-40B4-BE49-F238E27FC236}">
                <a16:creationId xmlns:a16="http://schemas.microsoft.com/office/drawing/2014/main" id="{AB6CA7E9-597E-40CF-B350-BC562B495A39}"/>
              </a:ext>
            </a:extLst>
          </p:cNvPr>
          <p:cNvSpPr txBox="1"/>
          <p:nvPr/>
        </p:nvSpPr>
        <p:spPr>
          <a:xfrm>
            <a:off x="604887" y="553592"/>
            <a:ext cx="19800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>
              <a:defRPr sz="2800" b="1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>
                <a:gradFill>
                  <a:gsLst>
                    <a:gs pos="0">
                      <a:srgbClr val="00B050"/>
                    </a:gs>
                    <a:gs pos="100000">
                      <a:srgbClr val="0070C0"/>
                    </a:gs>
                  </a:gsLst>
                  <a:lin ang="10800000" scaled="1"/>
                </a:gradFill>
              </a:rPr>
              <a:t>未来里程碑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EB6C8A42-BE34-494B-9350-03DF35F7857A}"/>
              </a:ext>
            </a:extLst>
          </p:cNvPr>
          <p:cNvSpPr/>
          <p:nvPr/>
        </p:nvSpPr>
        <p:spPr>
          <a:xfrm>
            <a:off x="541654" y="1116840"/>
            <a:ext cx="3427565" cy="45719"/>
          </a:xfrm>
          <a:prstGeom prst="rect">
            <a:avLst/>
          </a:prstGeom>
          <a:gradFill>
            <a:gsLst>
              <a:gs pos="100000">
                <a:srgbClr val="F5DDA0">
                  <a:alpha val="0"/>
                </a:srgbClr>
              </a:gs>
              <a:gs pos="0">
                <a:srgbClr val="1D93E0">
                  <a:alpha val="0"/>
                </a:srgbClr>
              </a:gs>
              <a:gs pos="58000">
                <a:srgbClr val="F5DDA0"/>
              </a:gs>
              <a:gs pos="29000">
                <a:srgbClr val="1D93E0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56DAA616-708C-4FF9-B17D-2580C343D9AB}"/>
              </a:ext>
            </a:extLst>
          </p:cNvPr>
          <p:cNvSpPr/>
          <p:nvPr/>
        </p:nvSpPr>
        <p:spPr>
          <a:xfrm>
            <a:off x="685800" y="1234440"/>
            <a:ext cx="5394960" cy="39319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 algn="just">
              <a:lnSpc>
                <a:spcPct val="150000"/>
              </a:lnSpc>
              <a:spcAft>
                <a:spcPts val="600"/>
              </a:spcAft>
              <a:buSzPts val="1400"/>
              <a:buFont typeface="Wingdings" panose="05000000000000000000" pitchFamily="2" charset="2"/>
              <a:buChar char=""/>
            </a:pPr>
            <a:r>
              <a:rPr sz="135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· 10/07：技术冻结（可复现包 + 文档 + 冻结 tag）。</a:t>
            </a:r>
            <a:endParaRPr lang="zh-CN" altLang="zh-CN" sz="1400" kern="100" dirty="0">
              <a:solidFill>
                <a:schemeClr val="bg2">
                  <a:lumMod val="50000"/>
                </a:schemeClr>
              </a:solidFill>
              <a:effectLst/>
              <a:latin typeface="Calibri" panose="020F0502020204030204" pitchFamily="34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>
              <a:spcAft>
                <a:spcPts val="600"/>
              </a:spcAft>
            </a:pPr>
            <a:r>
              <a:rPr sz="135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· 11 月：大赛产业对接会，争取 1 个污水厂试点意向。</a:t>
            </a:r>
          </a:p>
          <a:p>
            <a:pPr>
              <a:spcAft>
                <a:spcPts val="600"/>
              </a:spcAft>
            </a:pPr>
            <a:r>
              <a:rPr sz="135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· 2027 Q1：首个污水厂试点上线（1 台设备、3–6 个月对照）。</a:t>
            </a:r>
          </a:p>
          <a:p>
            <a:pPr>
              <a:spcAft>
                <a:spcPts val="600"/>
              </a:spcAft>
            </a:pPr>
            <a:r>
              <a:rPr sz="135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· 2027 年内：扩展至单厂多设备，并完成首批付费客户签约。</a:t>
            </a:r>
          </a:p>
        </p:txBody>
      </p:sp>
    </p:spTree>
    <p:extLst>
      <p:ext uri="{BB962C8B-B14F-4D97-AF65-F5344CB8AC3E}">
        <p14:creationId xmlns:p14="http://schemas.microsoft.com/office/powerpoint/2010/main" val="348259361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26140" y="95949"/>
            <a:ext cx="5780926" cy="865053"/>
          </a:xfrm>
          <a:prstGeom prst="rect">
            <a:avLst/>
          </a:prstGeom>
        </p:spPr>
      </p:pic>
      <p:pic>
        <p:nvPicPr>
          <p:cNvPr id="3" name="图片 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6580" y="5809027"/>
            <a:ext cx="3719245" cy="942971"/>
          </a:xfrm>
          <a:prstGeom prst="rect">
            <a:avLst/>
          </a:prstGeom>
        </p:spPr>
      </p:pic>
      <p:sp>
        <p:nvSpPr>
          <p:cNvPr id="4" name="文本框 3"/>
          <p:cNvSpPr txBox="1"/>
          <p:nvPr/>
        </p:nvSpPr>
        <p:spPr>
          <a:xfrm>
            <a:off x="1212684" y="1897225"/>
            <a:ext cx="1481496" cy="98834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4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目 录</a:t>
            </a:r>
            <a:endParaRPr kumimoji="0" lang="zh-CN" altLang="en-US" sz="18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64ACE34-6F90-4F57-AF43-66FF01CC7965}"/>
              </a:ext>
            </a:extLst>
          </p:cNvPr>
          <p:cNvSpPr txBox="1"/>
          <p:nvPr/>
        </p:nvSpPr>
        <p:spPr>
          <a:xfrm>
            <a:off x="4196550" y="1187369"/>
            <a:ext cx="4647426" cy="44590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>
              <a:defRPr sz="2800" b="1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marL="457200" marR="0" indent="-457200" fontAlgn="auto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n"/>
              <a:tabLst/>
              <a:defRPr/>
            </a:pPr>
            <a:r>
              <a:rPr lang="zh-CN" altLang="en-US" sz="2400" dirty="0">
                <a:solidFill>
                  <a:prstClr val="white"/>
                </a:solidFill>
              </a:rPr>
              <a:t>项目概述</a:t>
            </a:r>
            <a:endParaRPr lang="en-US" altLang="zh-CN" sz="2400" dirty="0">
              <a:solidFill>
                <a:prstClr val="white"/>
              </a:solidFill>
            </a:endParaRP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2400" dirty="0">
                <a:solidFill>
                  <a:prstClr val="white"/>
                </a:solidFill>
              </a:rPr>
              <a:t>产品</a:t>
            </a:r>
            <a:r>
              <a:rPr lang="en-US" altLang="zh-CN" sz="2400" dirty="0">
                <a:solidFill>
                  <a:prstClr val="white"/>
                </a:solidFill>
              </a:rPr>
              <a:t>/</a:t>
            </a:r>
            <a:r>
              <a:rPr lang="zh-CN" altLang="en-US" sz="2400" dirty="0">
                <a:solidFill>
                  <a:prstClr val="white"/>
                </a:solidFill>
              </a:rPr>
              <a:t>服务设计</a:t>
            </a:r>
            <a:endParaRPr lang="en-US" altLang="zh-CN" sz="2400" dirty="0">
              <a:solidFill>
                <a:prstClr val="white"/>
              </a:solidFill>
            </a:endParaRP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2400" dirty="0">
                <a:solidFill>
                  <a:prstClr val="white"/>
                </a:solidFill>
              </a:rPr>
              <a:t>市场营销分析</a:t>
            </a:r>
            <a:endParaRPr lang="en-US" altLang="zh-CN" sz="2400" dirty="0">
              <a:solidFill>
                <a:prstClr val="white"/>
              </a:solidFill>
            </a:endParaRP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2400" dirty="0">
                <a:solidFill>
                  <a:prstClr val="white"/>
                </a:solidFill>
              </a:rPr>
              <a:t>商业模式和财务分析（如有）</a:t>
            </a:r>
            <a:endParaRPr lang="en-US" altLang="zh-CN" sz="2400" dirty="0">
              <a:solidFill>
                <a:prstClr val="white"/>
              </a:solidFill>
            </a:endParaRP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2400" dirty="0">
                <a:solidFill>
                  <a:prstClr val="white"/>
                </a:solidFill>
              </a:rPr>
              <a:t>实施计划</a:t>
            </a:r>
            <a:endParaRPr lang="en-US" altLang="zh-CN" sz="2400" dirty="0">
              <a:solidFill>
                <a:prstClr val="white"/>
              </a:solidFill>
            </a:endParaRP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2400" dirty="0">
                <a:solidFill>
                  <a:srgbClr val="002060"/>
                </a:solidFill>
              </a:rPr>
              <a:t>风险分析与对策</a:t>
            </a:r>
            <a:endParaRPr lang="en-US" altLang="zh-CN" sz="2400" dirty="0">
              <a:solidFill>
                <a:srgbClr val="002060"/>
              </a:solidFill>
            </a:endParaRPr>
          </a:p>
          <a:p>
            <a:pPr marL="457200" lvl="0" indent="-45720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2400" dirty="0">
                <a:solidFill>
                  <a:prstClr val="white"/>
                </a:solidFill>
              </a:rPr>
              <a:t>公司</a:t>
            </a:r>
            <a:r>
              <a:rPr lang="en-US" altLang="zh-CN" sz="2400" dirty="0">
                <a:solidFill>
                  <a:prstClr val="white"/>
                </a:solidFill>
              </a:rPr>
              <a:t>/</a:t>
            </a:r>
            <a:r>
              <a:rPr lang="zh-CN" altLang="en-US" sz="2400" dirty="0">
                <a:solidFill>
                  <a:prstClr val="white"/>
                </a:solidFill>
              </a:rPr>
              <a:t>团队介绍</a:t>
            </a:r>
            <a:endParaRPr lang="en-US" altLang="zh-CN" sz="2400" dirty="0">
              <a:solidFill>
                <a:prstClr val="white"/>
              </a:solidFill>
            </a:endParaRPr>
          </a:p>
          <a:p>
            <a:pPr marL="457200" lvl="0" indent="-45720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2400" dirty="0">
                <a:solidFill>
                  <a:prstClr val="white"/>
                </a:solidFill>
              </a:rPr>
              <a:t>附录</a:t>
            </a:r>
            <a:endParaRPr kumimoji="0" lang="zh-CN" altLang="en-US" sz="24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534423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436308"/>
            <a:ext cx="12192000" cy="1421692"/>
          </a:xfrm>
          <a:prstGeom prst="rect">
            <a:avLst/>
          </a:prstGeom>
        </p:spPr>
      </p:pic>
      <p:pic>
        <p:nvPicPr>
          <p:cNvPr id="3" name="图片 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40963" y="17822"/>
            <a:ext cx="5251037" cy="534579"/>
          </a:xfrm>
          <a:prstGeom prst="rect">
            <a:avLst/>
          </a:prstGeom>
        </p:spPr>
      </p:pic>
      <p:sp>
        <p:nvSpPr>
          <p:cNvPr id="4" name="文本框 3">
            <a:extLst>
              <a:ext uri="{FF2B5EF4-FFF2-40B4-BE49-F238E27FC236}">
                <a16:creationId xmlns:a16="http://schemas.microsoft.com/office/drawing/2014/main" id="{AB6CA7E9-597E-40CF-B350-BC562B495A39}"/>
              </a:ext>
            </a:extLst>
          </p:cNvPr>
          <p:cNvSpPr txBox="1"/>
          <p:nvPr/>
        </p:nvSpPr>
        <p:spPr>
          <a:xfrm>
            <a:off x="604887" y="553592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>
              <a:defRPr sz="2800" b="1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>
                <a:gradFill>
                  <a:gsLst>
                    <a:gs pos="0">
                      <a:srgbClr val="00B050"/>
                    </a:gs>
                    <a:gs pos="100000">
                      <a:srgbClr val="0070C0"/>
                    </a:gs>
                  </a:gsLst>
                  <a:lin ang="10800000" scaled="1"/>
                </a:gradFill>
              </a:rPr>
              <a:t>主要风险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EB6C8A42-BE34-494B-9350-03DF35F7857A}"/>
              </a:ext>
            </a:extLst>
          </p:cNvPr>
          <p:cNvSpPr/>
          <p:nvPr/>
        </p:nvSpPr>
        <p:spPr>
          <a:xfrm>
            <a:off x="541654" y="1116840"/>
            <a:ext cx="3427565" cy="45719"/>
          </a:xfrm>
          <a:prstGeom prst="rect">
            <a:avLst/>
          </a:prstGeom>
          <a:gradFill>
            <a:gsLst>
              <a:gs pos="100000">
                <a:srgbClr val="F5DDA0">
                  <a:alpha val="0"/>
                </a:srgbClr>
              </a:gs>
              <a:gs pos="0">
                <a:srgbClr val="1D93E0">
                  <a:alpha val="0"/>
                </a:srgbClr>
              </a:gs>
              <a:gs pos="58000">
                <a:srgbClr val="F5DDA0"/>
              </a:gs>
              <a:gs pos="29000">
                <a:srgbClr val="1D93E0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297ED9E6-A43D-4F85-A852-F5152B3A1FBA}"/>
              </a:ext>
            </a:extLst>
          </p:cNvPr>
          <p:cNvSpPr/>
          <p:nvPr/>
        </p:nvSpPr>
        <p:spPr>
          <a:xfrm>
            <a:off x="685800" y="1234440"/>
            <a:ext cx="5394960" cy="39319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 algn="just">
              <a:lnSpc>
                <a:spcPct val="150000"/>
              </a:lnSpc>
              <a:spcAft>
                <a:spcPts val="600"/>
              </a:spcAft>
              <a:buSzPts val="1400"/>
              <a:buFont typeface="Wingdings" panose="05000000000000000000" pitchFamily="2" charset="2"/>
              <a:buChar char=""/>
            </a:pPr>
            <a:r>
              <a:rPr sz="135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· 技术风险：真实厂数据缺失导致阈值无法现场标定；传感器标定漂移可能造成假 RUL。</a:t>
            </a:r>
            <a:endParaRPr lang="zh-CN" altLang="zh-CN" sz="1400" kern="100" dirty="0">
              <a:solidFill>
                <a:schemeClr val="bg2">
                  <a:lumMod val="50000"/>
                </a:schemeClr>
              </a:solidFill>
              <a:effectLst/>
              <a:latin typeface="Calibri" panose="020F0502020204030204" pitchFamily="34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>
              <a:spcAft>
                <a:spcPts val="600"/>
              </a:spcAft>
            </a:pPr>
            <a:r>
              <a:rPr sz="135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· 市场风险：客户对「预测性维护」付费意愿需验证；集团采购周期长。</a:t>
            </a:r>
          </a:p>
          <a:p>
            <a:pPr>
              <a:spcAft>
                <a:spcPts val="600"/>
              </a:spcAft>
            </a:pPr>
            <a:r>
              <a:rPr sz="135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· 数据风险：现场数据质量（缺失、工况列不规范）影响检出效果。</a:t>
            </a:r>
          </a:p>
          <a:p>
            <a:pPr>
              <a:spcAft>
                <a:spcPts val="600"/>
              </a:spcAft>
            </a:pPr>
            <a:r>
              <a:rPr sz="135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· 团队风险：缺少给排水/环境专业成员与行业顾问，指导老师待定。</a:t>
            </a:r>
          </a:p>
        </p:txBody>
      </p:sp>
    </p:spTree>
    <p:extLst>
      <p:ext uri="{BB962C8B-B14F-4D97-AF65-F5344CB8AC3E}">
        <p14:creationId xmlns:p14="http://schemas.microsoft.com/office/powerpoint/2010/main" val="332763822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436308"/>
            <a:ext cx="12192000" cy="1421692"/>
          </a:xfrm>
          <a:prstGeom prst="rect">
            <a:avLst/>
          </a:prstGeom>
        </p:spPr>
      </p:pic>
      <p:pic>
        <p:nvPicPr>
          <p:cNvPr id="3" name="图片 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40963" y="17822"/>
            <a:ext cx="5251037" cy="534579"/>
          </a:xfrm>
          <a:prstGeom prst="rect">
            <a:avLst/>
          </a:prstGeom>
        </p:spPr>
      </p:pic>
      <p:sp>
        <p:nvSpPr>
          <p:cNvPr id="4" name="文本框 3">
            <a:extLst>
              <a:ext uri="{FF2B5EF4-FFF2-40B4-BE49-F238E27FC236}">
                <a16:creationId xmlns:a16="http://schemas.microsoft.com/office/drawing/2014/main" id="{AB6CA7E9-597E-40CF-B350-BC562B495A39}"/>
              </a:ext>
            </a:extLst>
          </p:cNvPr>
          <p:cNvSpPr txBox="1"/>
          <p:nvPr/>
        </p:nvSpPr>
        <p:spPr>
          <a:xfrm>
            <a:off x="604887" y="525312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>
              <a:defRPr sz="2800" b="1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>
                <a:gradFill>
                  <a:gsLst>
                    <a:gs pos="0">
                      <a:srgbClr val="00B050"/>
                    </a:gs>
                    <a:gs pos="100000">
                      <a:srgbClr val="0070C0"/>
                    </a:gs>
                  </a:gsLst>
                  <a:lin ang="10800000" scaled="1"/>
                </a:gradFill>
              </a:rPr>
              <a:t>应对措施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EB6C8A42-BE34-494B-9350-03DF35F7857A}"/>
              </a:ext>
            </a:extLst>
          </p:cNvPr>
          <p:cNvSpPr/>
          <p:nvPr/>
        </p:nvSpPr>
        <p:spPr>
          <a:xfrm>
            <a:off x="541654" y="1116840"/>
            <a:ext cx="3427565" cy="45719"/>
          </a:xfrm>
          <a:prstGeom prst="rect">
            <a:avLst/>
          </a:prstGeom>
          <a:gradFill>
            <a:gsLst>
              <a:gs pos="100000">
                <a:srgbClr val="F5DDA0">
                  <a:alpha val="0"/>
                </a:srgbClr>
              </a:gs>
              <a:gs pos="0">
                <a:srgbClr val="1D93E0">
                  <a:alpha val="0"/>
                </a:srgbClr>
              </a:gs>
              <a:gs pos="58000">
                <a:srgbClr val="F5DDA0"/>
              </a:gs>
              <a:gs pos="29000">
                <a:srgbClr val="1D93E0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85800" y="1234440"/>
            <a:ext cx="53949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5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· 技术：试点前用历史段回放验证；标定漂移用多源冗余（在线密度计 + 实验室）+ 独立漂移监控压制；RUL 只挂机理量并带趋势门控。</a:t>
            </a:r>
          </a:p>
          <a:p>
            <a:pPr>
              <a:spcAft>
                <a:spcPts val="600"/>
              </a:spcAft>
            </a:pPr>
            <a:r>
              <a:rPr sz="135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· 市场：先做免费试点，用「提前量 / 误报数」对照报告说话；以单厂为最小付费单元降低决策门槛。</a:t>
            </a:r>
          </a:p>
          <a:p>
            <a:pPr>
              <a:spcAft>
                <a:spcPts val="600"/>
              </a:spcAft>
            </a:pPr>
            <a:r>
              <a:rPr sz="135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· 数据：接入前先体检（缺失率、零方差、参考窗趋势），并要求多段健康期标定。</a:t>
            </a:r>
          </a:p>
          <a:p>
            <a:pPr>
              <a:spcAft>
                <a:spcPts val="600"/>
              </a:spcAft>
            </a:pPr>
            <a:r>
              <a:rPr sz="135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· 团队：优先补齐 1 名给排水/环境专业成员与 1 名市场成员，并争取高校实验室与产业导师支持。</a:t>
            </a:r>
          </a:p>
        </p:txBody>
      </p:sp>
    </p:spTree>
    <p:extLst>
      <p:ext uri="{BB962C8B-B14F-4D97-AF65-F5344CB8AC3E}">
        <p14:creationId xmlns:p14="http://schemas.microsoft.com/office/powerpoint/2010/main" val="307575857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26140" y="95949"/>
            <a:ext cx="5780926" cy="865053"/>
          </a:xfrm>
          <a:prstGeom prst="rect">
            <a:avLst/>
          </a:prstGeom>
        </p:spPr>
      </p:pic>
      <p:pic>
        <p:nvPicPr>
          <p:cNvPr id="3" name="图片 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6580" y="5809027"/>
            <a:ext cx="3719245" cy="942971"/>
          </a:xfrm>
          <a:prstGeom prst="rect">
            <a:avLst/>
          </a:prstGeom>
        </p:spPr>
      </p:pic>
      <p:sp>
        <p:nvSpPr>
          <p:cNvPr id="4" name="文本框 3"/>
          <p:cNvSpPr txBox="1"/>
          <p:nvPr/>
        </p:nvSpPr>
        <p:spPr>
          <a:xfrm>
            <a:off x="1212684" y="1897225"/>
            <a:ext cx="1481496" cy="98834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4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目 录</a:t>
            </a:r>
            <a:endParaRPr kumimoji="0" lang="zh-CN" altLang="en-US" sz="18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64ACE34-6F90-4F57-AF43-66FF01CC7965}"/>
              </a:ext>
            </a:extLst>
          </p:cNvPr>
          <p:cNvSpPr txBox="1"/>
          <p:nvPr/>
        </p:nvSpPr>
        <p:spPr>
          <a:xfrm>
            <a:off x="4196550" y="1187369"/>
            <a:ext cx="4647426" cy="44590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>
              <a:defRPr sz="2800" b="1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marL="457200" marR="0" indent="-457200" fontAlgn="auto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n"/>
              <a:tabLst/>
              <a:defRPr/>
            </a:pPr>
            <a:r>
              <a:rPr lang="zh-CN" altLang="en-US" sz="2400" dirty="0">
                <a:solidFill>
                  <a:prstClr val="white"/>
                </a:solidFill>
              </a:rPr>
              <a:t>项目概述</a:t>
            </a:r>
            <a:endParaRPr lang="en-US" altLang="zh-CN" sz="2400" dirty="0">
              <a:solidFill>
                <a:prstClr val="white"/>
              </a:solidFill>
            </a:endParaRP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2400" dirty="0">
                <a:solidFill>
                  <a:prstClr val="white"/>
                </a:solidFill>
              </a:rPr>
              <a:t>产品</a:t>
            </a:r>
            <a:r>
              <a:rPr lang="en-US" altLang="zh-CN" sz="2400" dirty="0">
                <a:solidFill>
                  <a:prstClr val="white"/>
                </a:solidFill>
              </a:rPr>
              <a:t>/</a:t>
            </a:r>
            <a:r>
              <a:rPr lang="zh-CN" altLang="en-US" sz="2400" dirty="0">
                <a:solidFill>
                  <a:prstClr val="white"/>
                </a:solidFill>
              </a:rPr>
              <a:t>服务设计</a:t>
            </a:r>
            <a:endParaRPr lang="en-US" altLang="zh-CN" sz="2400" dirty="0">
              <a:solidFill>
                <a:prstClr val="white"/>
              </a:solidFill>
            </a:endParaRP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2400" dirty="0">
                <a:solidFill>
                  <a:prstClr val="white"/>
                </a:solidFill>
              </a:rPr>
              <a:t>市场营销分析</a:t>
            </a:r>
            <a:endParaRPr lang="en-US" altLang="zh-CN" sz="2400" dirty="0">
              <a:solidFill>
                <a:prstClr val="white"/>
              </a:solidFill>
            </a:endParaRP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2400" dirty="0">
                <a:solidFill>
                  <a:prstClr val="white"/>
                </a:solidFill>
              </a:rPr>
              <a:t>商业模式和财务分析（如有）</a:t>
            </a:r>
            <a:endParaRPr lang="en-US" altLang="zh-CN" sz="2400" dirty="0">
              <a:solidFill>
                <a:prstClr val="white"/>
              </a:solidFill>
            </a:endParaRP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2400" dirty="0">
                <a:solidFill>
                  <a:prstClr val="white"/>
                </a:solidFill>
              </a:rPr>
              <a:t>实施计划</a:t>
            </a:r>
            <a:endParaRPr lang="en-US" altLang="zh-CN" sz="2400" dirty="0">
              <a:solidFill>
                <a:prstClr val="white"/>
              </a:solidFill>
            </a:endParaRP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2400" dirty="0">
                <a:solidFill>
                  <a:prstClr val="white"/>
                </a:solidFill>
              </a:rPr>
              <a:t>风险分析与对策</a:t>
            </a:r>
            <a:endParaRPr lang="en-US" altLang="zh-CN" sz="2400" dirty="0">
              <a:solidFill>
                <a:prstClr val="white"/>
              </a:solidFill>
            </a:endParaRPr>
          </a:p>
          <a:p>
            <a:pPr marL="457200" lvl="0" indent="-45720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2400" dirty="0">
                <a:solidFill>
                  <a:srgbClr val="002060"/>
                </a:solidFill>
              </a:rPr>
              <a:t>公司</a:t>
            </a:r>
            <a:r>
              <a:rPr lang="en-US" altLang="zh-CN" sz="2400" dirty="0">
                <a:solidFill>
                  <a:srgbClr val="002060"/>
                </a:solidFill>
              </a:rPr>
              <a:t>/</a:t>
            </a:r>
            <a:r>
              <a:rPr lang="zh-CN" altLang="en-US" sz="2400" dirty="0">
                <a:solidFill>
                  <a:srgbClr val="002060"/>
                </a:solidFill>
              </a:rPr>
              <a:t>团队介绍</a:t>
            </a:r>
            <a:endParaRPr lang="en-US" altLang="zh-CN" sz="2400" dirty="0">
              <a:solidFill>
                <a:srgbClr val="002060"/>
              </a:solidFill>
            </a:endParaRPr>
          </a:p>
          <a:p>
            <a:pPr marL="457200" lvl="0" indent="-45720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2400" dirty="0">
                <a:solidFill>
                  <a:prstClr val="white"/>
                </a:solidFill>
              </a:rPr>
              <a:t>附录</a:t>
            </a:r>
            <a:endParaRPr kumimoji="0" lang="zh-CN" altLang="en-US" sz="24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7472342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436308"/>
            <a:ext cx="12192000" cy="1421692"/>
          </a:xfrm>
          <a:prstGeom prst="rect">
            <a:avLst/>
          </a:prstGeom>
        </p:spPr>
      </p:pic>
      <p:pic>
        <p:nvPicPr>
          <p:cNvPr id="3" name="图片 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40963" y="17822"/>
            <a:ext cx="5251037" cy="534579"/>
          </a:xfrm>
          <a:prstGeom prst="rect">
            <a:avLst/>
          </a:prstGeom>
        </p:spPr>
      </p:pic>
      <p:sp>
        <p:nvSpPr>
          <p:cNvPr id="4" name="文本框 3">
            <a:extLst>
              <a:ext uri="{FF2B5EF4-FFF2-40B4-BE49-F238E27FC236}">
                <a16:creationId xmlns:a16="http://schemas.microsoft.com/office/drawing/2014/main" id="{AB6CA7E9-597E-40CF-B350-BC562B495A39}"/>
              </a:ext>
            </a:extLst>
          </p:cNvPr>
          <p:cNvSpPr txBox="1"/>
          <p:nvPr/>
        </p:nvSpPr>
        <p:spPr>
          <a:xfrm>
            <a:off x="604887" y="553592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>
              <a:defRPr sz="2800" b="1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>
                <a:gradFill>
                  <a:gsLst>
                    <a:gs pos="0">
                      <a:srgbClr val="00B050"/>
                    </a:gs>
                    <a:gs pos="100000">
                      <a:srgbClr val="0070C0"/>
                    </a:gs>
                  </a:gsLst>
                  <a:lin ang="10800000" scaled="1"/>
                </a:gradFill>
              </a:rPr>
              <a:t>团队构成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EB6C8A42-BE34-494B-9350-03DF35F7857A}"/>
              </a:ext>
            </a:extLst>
          </p:cNvPr>
          <p:cNvSpPr/>
          <p:nvPr/>
        </p:nvSpPr>
        <p:spPr>
          <a:xfrm>
            <a:off x="541654" y="1116840"/>
            <a:ext cx="3427565" cy="45719"/>
          </a:xfrm>
          <a:prstGeom prst="rect">
            <a:avLst/>
          </a:prstGeom>
          <a:gradFill>
            <a:gsLst>
              <a:gs pos="100000">
                <a:srgbClr val="F5DDA0">
                  <a:alpha val="0"/>
                </a:srgbClr>
              </a:gs>
              <a:gs pos="0">
                <a:srgbClr val="1D93E0">
                  <a:alpha val="0"/>
                </a:srgbClr>
              </a:gs>
              <a:gs pos="58000">
                <a:srgbClr val="F5DDA0"/>
              </a:gs>
              <a:gs pos="29000">
                <a:srgbClr val="1D93E0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ECDC2064-E658-4ECE-A695-0F04F262126A}"/>
              </a:ext>
            </a:extLst>
          </p:cNvPr>
          <p:cNvSpPr/>
          <p:nvPr/>
        </p:nvSpPr>
        <p:spPr>
          <a:xfrm>
            <a:off x="685800" y="1234440"/>
            <a:ext cx="5394960" cy="39319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 algn="just">
              <a:lnSpc>
                <a:spcPct val="150000"/>
              </a:lnSpc>
              <a:spcAft>
                <a:spcPts val="600"/>
              </a:spcAft>
              <a:buSzPts val="1400"/>
              <a:buFont typeface="Wingdings" panose="05000000000000000000" pitchFamily="2" charset="2"/>
              <a:buChar char=""/>
            </a:pPr>
            <a:r>
              <a:rPr sz="135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· 项目负责人：&lt;姓名&gt;（算法与工程实现、材料撰写）。</a:t>
            </a:r>
            <a:endParaRPr lang="zh-CN" altLang="zh-CN" sz="1400" kern="100" dirty="0">
              <a:solidFill>
                <a:schemeClr val="bg2">
                  <a:lumMod val="50000"/>
                </a:schemeClr>
              </a:solidFill>
              <a:effectLst/>
              <a:latin typeface="Calibri" panose="020F0502020204030204" pitchFamily="34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>
              <a:spcAft>
                <a:spcPts val="600"/>
              </a:spcAft>
            </a:pPr>
            <a:r>
              <a:rPr sz="135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· 拟补成员 1：给排水 / 环境工程专业（把关专业说法与现场流程）。</a:t>
            </a:r>
          </a:p>
          <a:p>
            <a:pPr>
              <a:spcAft>
                <a:spcPts val="600"/>
              </a:spcAft>
            </a:pPr>
            <a:r>
              <a:rPr sz="135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· 拟补成员 2：市场与商务（市场调研、客户接触、PPT 与路演）。</a:t>
            </a:r>
          </a:p>
          <a:p>
            <a:pPr>
              <a:spcAft>
                <a:spcPts val="600"/>
              </a:spcAft>
            </a:pPr>
            <a:r>
              <a:rPr sz="135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· 指导老师：&lt;待定&gt;；合作资源：高校实验室 + 大赛产业导师 + 命题方产业对接渠道。</a:t>
            </a:r>
          </a:p>
        </p:txBody>
      </p:sp>
    </p:spTree>
    <p:extLst>
      <p:ext uri="{BB962C8B-B14F-4D97-AF65-F5344CB8AC3E}">
        <p14:creationId xmlns:p14="http://schemas.microsoft.com/office/powerpoint/2010/main" val="198899511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26140" y="95949"/>
            <a:ext cx="5780926" cy="865053"/>
          </a:xfrm>
          <a:prstGeom prst="rect">
            <a:avLst/>
          </a:prstGeom>
        </p:spPr>
      </p:pic>
      <p:pic>
        <p:nvPicPr>
          <p:cNvPr id="3" name="图片 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6580" y="5809027"/>
            <a:ext cx="3719245" cy="942971"/>
          </a:xfrm>
          <a:prstGeom prst="rect">
            <a:avLst/>
          </a:prstGeom>
        </p:spPr>
      </p:pic>
      <p:sp>
        <p:nvSpPr>
          <p:cNvPr id="4" name="文本框 3"/>
          <p:cNvSpPr txBox="1"/>
          <p:nvPr/>
        </p:nvSpPr>
        <p:spPr>
          <a:xfrm>
            <a:off x="1212684" y="1897225"/>
            <a:ext cx="1481496" cy="98834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4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目 录</a:t>
            </a:r>
            <a:endParaRPr kumimoji="0" lang="zh-CN" altLang="en-US" sz="18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64ACE34-6F90-4F57-AF43-66FF01CC7965}"/>
              </a:ext>
            </a:extLst>
          </p:cNvPr>
          <p:cNvSpPr txBox="1"/>
          <p:nvPr/>
        </p:nvSpPr>
        <p:spPr>
          <a:xfrm>
            <a:off x="4233507" y="1199479"/>
            <a:ext cx="4647426" cy="44590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>
              <a:defRPr sz="2800" b="1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marL="457200" marR="0" indent="-457200" fontAlgn="auto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n"/>
              <a:tabLst/>
              <a:defRPr/>
            </a:pPr>
            <a:r>
              <a:rPr lang="zh-CN" altLang="en-US" sz="2400" dirty="0">
                <a:solidFill>
                  <a:prstClr val="white"/>
                </a:solidFill>
              </a:rPr>
              <a:t>项目概述</a:t>
            </a:r>
            <a:endParaRPr lang="en-US" altLang="zh-CN" sz="2400" dirty="0">
              <a:solidFill>
                <a:prstClr val="white"/>
              </a:solidFill>
            </a:endParaRP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2400" dirty="0">
                <a:solidFill>
                  <a:prstClr val="white"/>
                </a:solidFill>
              </a:rPr>
              <a:t>产品</a:t>
            </a:r>
            <a:r>
              <a:rPr lang="en-US" altLang="zh-CN" sz="2400" dirty="0">
                <a:solidFill>
                  <a:prstClr val="white"/>
                </a:solidFill>
              </a:rPr>
              <a:t>/</a:t>
            </a:r>
            <a:r>
              <a:rPr lang="zh-CN" altLang="en-US" sz="2400" dirty="0">
                <a:solidFill>
                  <a:prstClr val="white"/>
                </a:solidFill>
              </a:rPr>
              <a:t>服务设计</a:t>
            </a:r>
            <a:endParaRPr lang="en-US" altLang="zh-CN" sz="2400" dirty="0">
              <a:solidFill>
                <a:prstClr val="white"/>
              </a:solidFill>
            </a:endParaRP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2400" dirty="0">
                <a:solidFill>
                  <a:prstClr val="white"/>
                </a:solidFill>
              </a:rPr>
              <a:t>市场营销分析</a:t>
            </a:r>
            <a:endParaRPr lang="en-US" altLang="zh-CN" sz="2400" dirty="0">
              <a:solidFill>
                <a:prstClr val="white"/>
              </a:solidFill>
            </a:endParaRP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2400" dirty="0">
                <a:solidFill>
                  <a:prstClr val="white"/>
                </a:solidFill>
              </a:rPr>
              <a:t>商业模式和财务分析（如有）</a:t>
            </a:r>
            <a:endParaRPr lang="en-US" altLang="zh-CN" sz="2400" dirty="0">
              <a:solidFill>
                <a:prstClr val="white"/>
              </a:solidFill>
            </a:endParaRP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2400" dirty="0">
                <a:solidFill>
                  <a:prstClr val="white"/>
                </a:solidFill>
              </a:rPr>
              <a:t>实施计划</a:t>
            </a:r>
            <a:endParaRPr lang="en-US" altLang="zh-CN" sz="2400" dirty="0">
              <a:solidFill>
                <a:prstClr val="white"/>
              </a:solidFill>
            </a:endParaRP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2400" dirty="0">
                <a:solidFill>
                  <a:prstClr val="white"/>
                </a:solidFill>
              </a:rPr>
              <a:t>风险分析与对策</a:t>
            </a:r>
            <a:endParaRPr lang="en-US" altLang="zh-CN" sz="2400" dirty="0">
              <a:solidFill>
                <a:prstClr val="white"/>
              </a:solidFill>
            </a:endParaRPr>
          </a:p>
          <a:p>
            <a:pPr marL="457200" lvl="0" indent="-45720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2400" dirty="0">
                <a:solidFill>
                  <a:prstClr val="white"/>
                </a:solidFill>
              </a:rPr>
              <a:t>公司</a:t>
            </a:r>
            <a:r>
              <a:rPr lang="en-US" altLang="zh-CN" sz="2400" dirty="0">
                <a:solidFill>
                  <a:prstClr val="white"/>
                </a:solidFill>
              </a:rPr>
              <a:t>/</a:t>
            </a:r>
            <a:r>
              <a:rPr lang="zh-CN" altLang="en-US" sz="2400" dirty="0">
                <a:solidFill>
                  <a:prstClr val="white"/>
                </a:solidFill>
              </a:rPr>
              <a:t>团队介绍</a:t>
            </a:r>
            <a:endParaRPr lang="en-US" altLang="zh-CN" sz="2400" dirty="0">
              <a:solidFill>
                <a:prstClr val="white"/>
              </a:solidFill>
            </a:endParaRP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2400" dirty="0">
                <a:solidFill>
                  <a:srgbClr val="002060"/>
                </a:solidFill>
              </a:rPr>
              <a:t>附录</a:t>
            </a:r>
          </a:p>
        </p:txBody>
      </p:sp>
    </p:spTree>
    <p:extLst>
      <p:ext uri="{BB962C8B-B14F-4D97-AF65-F5344CB8AC3E}">
        <p14:creationId xmlns:p14="http://schemas.microsoft.com/office/powerpoint/2010/main" val="190701433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436308"/>
            <a:ext cx="12192000" cy="1421692"/>
          </a:xfrm>
          <a:prstGeom prst="rect">
            <a:avLst/>
          </a:prstGeom>
        </p:spPr>
      </p:pic>
      <p:pic>
        <p:nvPicPr>
          <p:cNvPr id="3" name="图片 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40963" y="17822"/>
            <a:ext cx="5251037" cy="534579"/>
          </a:xfrm>
          <a:prstGeom prst="rect">
            <a:avLst/>
          </a:prstGeom>
        </p:spPr>
      </p:pic>
      <p:sp>
        <p:nvSpPr>
          <p:cNvPr id="4" name="文本框 3">
            <a:extLst>
              <a:ext uri="{FF2B5EF4-FFF2-40B4-BE49-F238E27FC236}">
                <a16:creationId xmlns:a16="http://schemas.microsoft.com/office/drawing/2014/main" id="{AB6CA7E9-597E-40CF-B350-BC562B495A39}"/>
              </a:ext>
            </a:extLst>
          </p:cNvPr>
          <p:cNvSpPr txBox="1"/>
          <p:nvPr/>
        </p:nvSpPr>
        <p:spPr>
          <a:xfrm>
            <a:off x="604887" y="553592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>
              <a:defRPr sz="2800" b="1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>
                <a:gradFill>
                  <a:gsLst>
                    <a:gs pos="0">
                      <a:srgbClr val="00B050"/>
                    </a:gs>
                    <a:gs pos="100000">
                      <a:srgbClr val="0070C0"/>
                    </a:gs>
                  </a:gsLst>
                  <a:lin ang="10800000" scaled="1"/>
                </a:gradFill>
              </a:rPr>
              <a:t>附录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EB6C8A42-BE34-494B-9350-03DF35F7857A}"/>
              </a:ext>
            </a:extLst>
          </p:cNvPr>
          <p:cNvSpPr/>
          <p:nvPr/>
        </p:nvSpPr>
        <p:spPr>
          <a:xfrm>
            <a:off x="541654" y="1116840"/>
            <a:ext cx="3427565" cy="45719"/>
          </a:xfrm>
          <a:prstGeom prst="rect">
            <a:avLst/>
          </a:prstGeom>
          <a:gradFill>
            <a:gsLst>
              <a:gs pos="100000">
                <a:srgbClr val="F5DDA0">
                  <a:alpha val="0"/>
                </a:srgbClr>
              </a:gs>
              <a:gs pos="0">
                <a:srgbClr val="1D93E0">
                  <a:alpha val="0"/>
                </a:srgbClr>
              </a:gs>
              <a:gs pos="58000">
                <a:srgbClr val="F5DDA0"/>
              </a:gs>
              <a:gs pos="29000">
                <a:srgbClr val="1D93E0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E5EDEA1C-8A25-4A9F-80DF-25AAB4A61AF7}"/>
              </a:ext>
            </a:extLst>
          </p:cNvPr>
          <p:cNvSpPr/>
          <p:nvPr/>
        </p:nvSpPr>
        <p:spPr>
          <a:xfrm>
            <a:off x="685800" y="1234440"/>
            <a:ext cx="5394960" cy="39319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>
              <a:spcAft>
                <a:spcPts val="600"/>
              </a:spcAft>
              <a:buSzPts val="1400"/>
              <a:buFont typeface="Times New Roman" panose="02020603050405020304" pitchFamily="18" charset="0"/>
              <a:buAutoNum type="arabicPeriod"/>
            </a:pPr>
            <a:r>
              <a:rPr sz="135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· 交付物：项目说明书（Word，38 图）、商业计划书（本 PPT）、本地工作台、企业版报告。</a:t>
            </a:r>
            <a:endParaRPr lang="zh-CN" altLang="zh-CN" b="1" dirty="0">
              <a:solidFill>
                <a:schemeClr val="bg2">
                  <a:lumMod val="50000"/>
                </a:schemeClr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>
              <a:spcAft>
                <a:spcPts val="600"/>
              </a:spcAft>
            </a:pPr>
            <a:r>
              <a:rPr sz="135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· 在线演示：落地页 / 十节看板 / 交互式数字孪生演示台 / 两份真实样例报告（GitHub Pages）。</a:t>
            </a:r>
          </a:p>
          <a:p>
            <a:pPr>
              <a:spcAft>
                <a:spcPts val="600"/>
              </a:spcAft>
            </a:pPr>
            <a:r>
              <a:rPr sz="135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· 可复现：run_all（快速 9 阶段 / 全量 39 阶段）+ 四轮独立复核台账 + 冻结前数字总检 30/30。</a:t>
            </a:r>
          </a:p>
          <a:p>
            <a:pPr>
              <a:spcAft>
                <a:spcPts val="600"/>
              </a:spcAft>
            </a:pPr>
            <a:r>
              <a:rPr sz="135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· 口径纪律：仿真一律标注「仿真」；成本参数为占位值；未标定前不对外给金额。</a:t>
            </a:r>
          </a:p>
        </p:txBody>
      </p:sp>
      <p:pic>
        <p:nvPicPr>
          <p:cNvPr id="7" name="Picture 6" descr="s8_report_metro_alarm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58100" y="1371600"/>
            <a:ext cx="2880360" cy="3840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826864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964" y="4805893"/>
            <a:ext cx="2000036" cy="2195402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58957" y="369870"/>
            <a:ext cx="5667080" cy="576934"/>
          </a:xfrm>
          <a:prstGeom prst="rect">
            <a:avLst/>
          </a:prstGeom>
        </p:spPr>
      </p:pic>
      <p:sp>
        <p:nvSpPr>
          <p:cNvPr id="6" name="文本框 5"/>
          <p:cNvSpPr txBox="1"/>
          <p:nvPr/>
        </p:nvSpPr>
        <p:spPr>
          <a:xfrm>
            <a:off x="1570480" y="2363164"/>
            <a:ext cx="8721333" cy="8145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lnSpc>
                <a:spcPct val="130000"/>
              </a:lnSpc>
            </a:pPr>
            <a:r>
              <a:rPr lang="zh-CN" altLang="en-US" sz="4000" b="1" dirty="0">
                <a:gradFill flip="none" rotWithShape="1">
                  <a:gsLst>
                    <a:gs pos="100000">
                      <a:srgbClr val="0070C0"/>
                    </a:gs>
                    <a:gs pos="0">
                      <a:srgbClr val="70AD47"/>
                    </a:gs>
                  </a:gsLst>
                  <a:lin ang="10800000" scaled="1"/>
                  <a:tileRect/>
                </a:gradFill>
                <a:latin typeface="微软雅黑" panose="020B0503020204020204" pitchFamily="34" charset="-122"/>
                <a:ea typeface="微软雅黑" panose="020B0503020204020204" pitchFamily="34" charset="-122"/>
              </a:rPr>
              <a:t>尾 页</a:t>
            </a:r>
          </a:p>
        </p:txBody>
      </p:sp>
    </p:spTree>
    <p:extLst>
      <p:ext uri="{BB962C8B-B14F-4D97-AF65-F5344CB8AC3E}">
        <p14:creationId xmlns:p14="http://schemas.microsoft.com/office/powerpoint/2010/main" val="244873927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964" y="4805893"/>
            <a:ext cx="2000036" cy="2195402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58957" y="369870"/>
            <a:ext cx="5667080" cy="576934"/>
          </a:xfrm>
          <a:prstGeom prst="rect">
            <a:avLst/>
          </a:prstGeom>
        </p:spPr>
      </p:pic>
      <p:sp>
        <p:nvSpPr>
          <p:cNvPr id="6" name="文本框 5"/>
          <p:cNvSpPr txBox="1"/>
          <p:nvPr/>
        </p:nvSpPr>
        <p:spPr>
          <a:xfrm>
            <a:off x="1735334" y="1411057"/>
            <a:ext cx="8721333" cy="16148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lnSpc>
                <a:spcPct val="130000"/>
              </a:lnSpc>
            </a:pPr>
            <a:r>
              <a:rPr lang="zh-CN" altLang="en-US" sz="4000" b="1" dirty="0">
                <a:gradFill flip="none" rotWithShape="1">
                  <a:gsLst>
                    <a:gs pos="100000">
                      <a:srgbClr val="0070C0"/>
                    </a:gs>
                    <a:gs pos="0">
                      <a:srgbClr val="70AD47"/>
                    </a:gs>
                  </a:gsLst>
                  <a:lin ang="10800000" scaled="1"/>
                  <a:tileRect/>
                </a:gradFill>
                <a:latin typeface="微软雅黑" panose="020B0503020204020204" pitchFamily="34" charset="-122"/>
                <a:ea typeface="微软雅黑" panose="020B0503020204020204" pitchFamily="34" charset="-122"/>
              </a:rPr>
              <a:t>请注意</a:t>
            </a:r>
            <a:endParaRPr lang="en-US" altLang="zh-CN" sz="4000" b="1" dirty="0">
              <a:gradFill flip="none" rotWithShape="1">
                <a:gsLst>
                  <a:gs pos="100000">
                    <a:srgbClr val="0070C0"/>
                  </a:gs>
                  <a:gs pos="0">
                    <a:srgbClr val="70AD47"/>
                  </a:gs>
                </a:gsLst>
                <a:lin ang="10800000" scaled="1"/>
                <a:tileRect/>
              </a:gra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0" algn="ctr">
              <a:lnSpc>
                <a:spcPct val="130000"/>
              </a:lnSpc>
            </a:pPr>
            <a:endParaRPr lang="zh-CN" altLang="en-US" sz="4000" b="1" dirty="0">
              <a:gradFill flip="none" rotWithShape="1">
                <a:gsLst>
                  <a:gs pos="100000">
                    <a:srgbClr val="0070C0"/>
                  </a:gs>
                  <a:gs pos="0">
                    <a:srgbClr val="70AD47"/>
                  </a:gs>
                </a:gsLst>
                <a:lin ang="10800000" scaled="1"/>
                <a:tileRect/>
              </a:gra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E98B306D-2946-427C-882C-ED3F25CD1F9F}"/>
              </a:ext>
            </a:extLst>
          </p:cNvPr>
          <p:cNvSpPr/>
          <p:nvPr/>
        </p:nvSpPr>
        <p:spPr>
          <a:xfrm>
            <a:off x="3048000" y="2551837"/>
            <a:ext cx="6614474" cy="25364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lvl="0" indent="-342900" algn="just">
              <a:lnSpc>
                <a:spcPct val="150000"/>
              </a:lnSpc>
              <a:buSzPts val="1400"/>
              <a:buFont typeface="Times New Roman" panose="02020603050405020304" pitchFamily="18" charset="0"/>
              <a:buAutoNum type="arabicPeriod"/>
            </a:pPr>
            <a:r>
              <a:rPr lang="zh-CN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宋体" panose="02010600030101010101" pitchFamily="2" charset="-122"/>
              </a:rPr>
              <a:t>商业计划书可以是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宋体" panose="02010600030101010101" pitchFamily="2" charset="-122"/>
              </a:rPr>
              <a:t>ppt</a:t>
            </a:r>
            <a:r>
              <a:rPr lang="zh-CN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宋体" panose="02010600030101010101" pitchFamily="2" charset="-122"/>
              </a:rPr>
              <a:t>或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宋体" panose="02010600030101010101" pitchFamily="2" charset="-122"/>
              </a:rPr>
              <a:t>word</a:t>
            </a:r>
            <a:r>
              <a:rPr lang="zh-CN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宋体" panose="02010600030101010101" pitchFamily="2" charset="-122"/>
              </a:rPr>
              <a:t>格式，内容逻辑清晰：避免冗长，用数据图表替代大段文字。</a:t>
            </a:r>
            <a:endParaRPr lang="zh-CN" alt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342900" lvl="0" indent="-342900" algn="just">
              <a:lnSpc>
                <a:spcPct val="150000"/>
              </a:lnSpc>
              <a:buSzPts val="1400"/>
              <a:buFont typeface="Times New Roman" panose="02020603050405020304" pitchFamily="18" charset="0"/>
              <a:buAutoNum type="arabicPeriod"/>
            </a:pPr>
            <a:r>
              <a:rPr lang="zh-CN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宋体" panose="02010600030101010101" pitchFamily="2" charset="-122"/>
              </a:rPr>
              <a:t>计划书突出创新：强调项目的独特性与社会价值。</a:t>
            </a:r>
            <a:endParaRPr lang="zh-CN" alt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342900" lvl="0" indent="-342900" algn="just">
              <a:lnSpc>
                <a:spcPct val="150000"/>
              </a:lnSpc>
              <a:buSzPts val="1400"/>
              <a:buFont typeface="Times New Roman" panose="02020603050405020304" pitchFamily="18" charset="0"/>
              <a:buAutoNum type="arabicPeriod"/>
            </a:pPr>
            <a:r>
              <a:rPr lang="zh-CN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宋体" panose="02010600030101010101" pitchFamily="2" charset="-122"/>
              </a:rPr>
              <a:t>视觉呈现可使用思维导图、产品原型图、流程图、演示视频等提升可读性。</a:t>
            </a:r>
            <a:endParaRPr lang="zh-CN" alt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342900" lvl="0" indent="-342900" algn="just">
              <a:lnSpc>
                <a:spcPct val="150000"/>
              </a:lnSpc>
              <a:buSzPts val="1400"/>
              <a:buFont typeface="Times New Roman" panose="02020603050405020304" pitchFamily="18" charset="0"/>
              <a:buAutoNum type="arabicPeriod"/>
            </a:pPr>
            <a:r>
              <a:rPr lang="zh-CN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宋体" panose="02010600030101010101" pitchFamily="2" charset="-122"/>
              </a:rPr>
              <a:t>附录需与计划书正文内容分开提交。</a:t>
            </a:r>
            <a:endParaRPr lang="zh-CN" alt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521406356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</TotalTime>
  <Words>748</Words>
  <Application>Microsoft Office PowerPoint</Application>
  <PresentationFormat>宽屏</PresentationFormat>
  <Paragraphs>125</Paragraphs>
  <Slides>32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32</vt:i4>
      </vt:variant>
    </vt:vector>
  </HeadingPairs>
  <TitlesOfParts>
    <vt:vector size="41" baseType="lpstr">
      <vt:lpstr>等线</vt:lpstr>
      <vt:lpstr>等线 Light</vt:lpstr>
      <vt:lpstr>宋体</vt:lpstr>
      <vt:lpstr>微软雅黑</vt:lpstr>
      <vt:lpstr>Arial</vt:lpstr>
      <vt:lpstr>Calibri</vt:lpstr>
      <vt:lpstr>Times New Roman</vt:lpstr>
      <vt:lpstr>Wingdings</vt:lpstr>
      <vt:lpstr>1_Office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董宇格</dc:creator>
  <cp:lastModifiedBy>董宇格</cp:lastModifiedBy>
  <cp:revision>13</cp:revision>
  <dcterms:created xsi:type="dcterms:W3CDTF">2025-04-14T07:38:36Z</dcterms:created>
  <dcterms:modified xsi:type="dcterms:W3CDTF">2025-04-14T08:15:05Z</dcterms:modified>
</cp:coreProperties>
</file>