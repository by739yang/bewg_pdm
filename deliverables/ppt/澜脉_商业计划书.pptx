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82" r:id="rId28"/>
    <p:sldId id="262" r:id="rId8"/>
    <p:sldId id="263" r:id="rId9"/>
    <p:sldId id="283" r:id="rId29"/>
    <p:sldId id="264" r:id="rId10"/>
    <p:sldId id="265" r:id="rId11"/>
    <p:sldId id="266" r:id="rId12"/>
    <p:sldId id="267" r:id="rId13"/>
    <p:sldId id="268" r:id="rId14"/>
    <p:sldId id="284" r:id="rId30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5" r:id="rId31"/>
    <p:sldId id="276" r:id="rId22"/>
    <p:sldId id="277" r:id="rId23"/>
    <p:sldId id="278" r:id="rId24"/>
    <p:sldId id="279" r:id="rId25"/>
    <p:sldId id="280" r:id="rId26"/>
  </p:sldIdLst>
  <p:sldSz cx="12192000" cy="68580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titleStyle>
    <p:body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bodyStyle>
    <p:other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F4EFE6"/>
                </a:solidFill>
                <a:latin typeface="Georgia"/>
                <a:ea typeface="Georgia"/>
              </a:rPr>
              <a:t>澜脉 · 污水厂设备 AI 预测性维护系统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A79F91"/>
                </a:solidFill>
                <a:latin typeface="Helvetica Neue"/>
                <a:ea typeface="Helvetica Neue"/>
              </a:rPr>
              <a:t>北控水务杯第九届 · 创意转化组 · 命题 2-6 ｜ 不加任何新传感器，用厂里已有信号做设备预警与维护决策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目录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目录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项目概述 ｜ 产品设计 ｜ 技术创新与证据 ｜ 使用方式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行业与市场 ｜ 竞争与优势 ｜ 商业模式与财务 ｜ 实施与风险 ｜ 团队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现状：关键设备仍是"坏了才修、到期就修"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现状：关键设备仍是"坏了才修、到期就修"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鼓风机、脱水机、泵：非计划停机代价高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定期大修：备件与人工浪费在没坏的设备上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电流、温度、压力、流量数据厂里本来就有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缺的是"从数据看出设备在退化"的方法与工具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澜脉：不加传感器，回答四个问题</a:t>
            </a:r>
          </a:p>
        </p:txBody>
      </p:sp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澜脉：不加传感器，回答四个问题</a:t>
            </a:r>
          </a:p>
        </p:txBody>
      </p:sp>
      <p:sp>
        <p:nvSpPr>
          <p:cNvPr id="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有没有异常 → 是什么故障 → 还剩多久 → 何时修最省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纯软件：可离线部署，数据不出厂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面向污水厂（TO B / TO G），按设备数订阅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命题 2-6 要的是完整闭环，不是单点算法演示</a:t>
            </a:r>
          </a:p>
        </p:txBody>
      </p:sp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产品：一条链路四段，每段都有可核查数字</a:t>
            </a:r>
          </a:p>
        </p:txBody>
      </p:sp>
      <p:graphicFrame>
        <p:nvGraphicFramePr>
          <p:cNvPr id="5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环节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回答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关键结果（口径见附录）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① 检测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有没有异常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双基线 + 工况条件化 + 分级告警 P1/P2/P3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② 诊断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是什么故障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CWRU 同记录/跨转速 宏F1 1.000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③ 剩余寿命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还剩多久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RMSE 15.27；孪生机理 1.00–4.04 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④ 决策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何时修最省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省约 16%；污泥线 24.5%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检测判据长什么样：双基线 + 事件机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检测判据长什么样：双基线 + 事件机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冻结基线抓慢漂移，短窗自适应抓突变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事件机：连续 4 点越限进入，连续 8 点低于 0.8×阈退出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分级：P1 立即处置 / P2 复核排计划 / P3 趋势观察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严重度用分布位置比值，不用单点越限时刻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创新一+二：三层防误报把误报压下去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创新一+二：三层防误报把误报压下去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自适应通道对慢漂移实测完全漏检（两条独立链路复现）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同召回下误报事件比对照实现少 2.8 倍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参考域必须取稳态段：投运段做参考会误报 26/18/26 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工况分箱条件化：健康最高分 19.18 → 14.86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仍不够用同期同工况对拍差分：原始量从"检不出"到失效前 14.5 天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创新三：设备级比值通道，全厂大数据看不见的退化它看得见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创新三：设备级比值通道，全厂大数据看不见的退化它看得见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整厂 5 个原始量：零误报口径 86.11 天（晚于失效）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设备级比值（干固体 ÷ 湿泥饼量）：9.80 天检出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提前 37.47 天；湿泥饼量 +55.53%（理论 +55.6%）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沼气、能耗、出水几乎无痕（±0.03%）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创新四：机理锚定 RUL，并给出拟合窗规则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创新四：机理锚定 RUL，并给出拟合窗规则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不用健康指数硬外推，只外推机理量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同一告警点：5/2/1 天窗 = 269.25 / 63.30 / 46.67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真值 47.67 天 → 1 天窗误差 1.00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含噪时窗长优先：1 天 26.47 天 → 10 天 13.85 天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创新五：决策层能算钱，且明确成本口径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创新五：决策层能算钱，且明确成本口径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对比固定周期 / 报警即处置 / RUL 驱动 / 纯失效驱动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C-MAPSS：省约 16%，15 格中胜 12 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污泥线脱水机：省 24.5%，9 格全胜，非计划失效 0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成本参数目前为占位值，需企业现场标定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七条设计原则：全部来自实验，不来自直觉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七条设计原则：全部来自实验，不来自直觉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双基线并行；② RUL 与严重度挂机理指标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冻结参考域取稳态段；④ 严重度用分布位置统计量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⑤ 阈值按工况自身基线标定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⑥ 拟合窗匹配退化时标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⑦ 设备级退化用设备自身物料平衡比值监测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验证纪律与边界：四轮独立复核 + 数字总检 30/30</a:t>
            </a:r>
          </a:p>
        </p:txBody>
      </p:sp>
      <p:graphicFrame>
        <p:nvGraphicFramePr>
          <p:cNvPr id="123" name="Table"/>
          <p:cNvGraphicFramePr>
            <a:graphicFrameLocks noGrp="1"/>
          </p:cNvGraphicFramePr>
          <p:nvPr/>
        </p:nvGraphicFramePr>
        <p:xfrm>
          <a:off x="900000" y="900000"/>
          <a:ext cx="10300000" cy="294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方面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结果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跨实现复核（四轮）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由第二套独立实现复核关键结论，问题全部回写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每个对外数字回溯结果文件并在文档检索：30/30 通过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一键复现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run_all：快速 9 阶段 / 全量 39 阶段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已实测（真实数据）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SKAB 水泵台架、MetroPT-3 空压机 214 天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已闭环（机理仿真）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BSM1 标准模型、BSM2 整厂（含 ADM1）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未验证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真实污水厂现场数据（正在申请试点）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使用方式：四条命令 + 本地工作台</a:t>
            </a:r>
          </a:p>
        </p:txBody>
      </p:sp>
      <p:sp>
        <p:nvSpPr>
          <p:cNvPr id="1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使用方式：四条命令 + 本地工作台</a:t>
            </a:r>
          </a:p>
        </p:txBody>
      </p:sp>
      <p:sp>
        <p:nvSpPr>
          <p:cNvPr id="1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体检：lanmai inspect --data 现场导出.csv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标定：lanmai calibrate --data 健康期.csv --out baseline.json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告警：lanmai watch --data 待监测.csv --baseline baseline.json --out alarms.csv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报告：lanmai report ... --out report.html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工作台：双击 start_lanmai.cmd（浏览器上传 CSV → 出报告，数据不出厂）</a:t>
            </a:r>
          </a:p>
        </p:txBody>
      </p:sp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企业版报告长什么样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企业版报告长什么样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数据体检：行数、采样间隔、缺失、零方差、分类列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标定摘要：参考窗、工况分层、阈值、工具告警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分级告警：P1/P2/P3 明细与处置动作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四张图 + 口径局限 + 复现命令（单文件、可离线打开）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当前进展：技术侧已冻结待命</a:t>
            </a:r>
          </a:p>
        </p:txBody>
      </p:sp>
      <p:graphicFrame>
        <p:nvGraphicFramePr>
          <p:cNvPr id="15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方面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状态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交付物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说明书、商业计划书、本地工作台、企业版报告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真实数据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真实水泵台架 + 真实地铁空压机（105 个告警）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机理仿真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BSM1 闭环 + BSM2 整厂 + 污泥线脱水机闭环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数字可信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四轮独立复核 + 数字总检 30/30 + 一键复现 39 阶段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项目亮点：创新性、社会价值、商业价值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项目亮点：创新性、社会价值、商业价值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创新性：三层防误报 + 设备级比值 + 机理 RUL + 诚实工程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社会价值：减少溢流与非计划停机；泥饼含固率合规预警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社会价值：不新增传感器，不增加现场改造与电子垃圾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商业价值：按设备订阅，轻资产、不垫资、可复制到供水与管网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行业背景与市场规模口径：存量巨大、数据已就位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行业背景与市场规模口径：存量巨大、数据已就位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城市及县城污水处理厂约 4816 座（2023 城乡建设统计年鉴，待原文核实）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双碳与污水资源化政策加压，运维成本被盯得越来越紧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数据已在 DCS/SCADA 里，差的是方法与工具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市场估算三口径：存量厂 × 单厂关键设备数 ｜ 非计划停机损失占比 ｜ 竞品单价 × 渗透率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17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目标用户与竞争格局：厂级设备科先用，集团统一采购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目标用户与竞争格局：厂级设备科先用，集团统一采购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使用者：设备科 / 运维班长（看 P1/P2/P3 决定动作）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付费方：水务集团 / 地方水司（按设备数订阅）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对比：国际 PdM 平台贵且需联网；通用工业 IoT 看不见设备级退化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我们的差异：可离线、设备级物料平衡量、数字可复现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18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项目竞争优势：四项别人不容易同时做到</a:t>
            </a:r>
          </a:p>
        </p:txBody>
      </p:sp>
      <p:sp>
        <p:nvSpPr>
          <p:cNvPr id="1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项目竞争优势：四项别人不容易同时做到</a:t>
            </a:r>
          </a:p>
        </p:txBody>
      </p:sp>
      <p:sp>
        <p:nvSpPr>
          <p:cNvPr id="1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机制把误报压下去（三层防误报，实测少 2.8 倍）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设备级退化能被发现（整厂原始量检不出 → 比值量 9.8 天）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现场能自己接数据（工具 + 工作台 + 报告，数据不出厂）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数字可核查（四轮独立复核 + 数字总检 30/30）</a:t>
            </a:r>
          </a:p>
        </p:txBody>
      </p:sp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19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市场进入策略：一台设备、三个月、一份对照报告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市场进入策略：一台设备、三个月、一份对照报告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第一步：免费试点 1 台设备，出健康基线报告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第二步：回放历史故障，给出提前量与误报数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第三步：单厂多设备（鼓风机 / 脱水机 / 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渠道：水务集团技术部、设计院、设备厂商、大赛产业对接会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20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盈利模式与财务结构：轻资产、不垫资，金额待标定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盈利模式与财务结构：轻资产、不垫资，金额待标定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收入一：按设备数年费订阅（定价待企业标定）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收入二：一次性接入标定与首份报告服务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成本：研发与维护、试点交付、部署与支持（轻）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关键指标：毛利率、获客成本、续费率、单厂回本周期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所有金额待企业成本参数标定后再填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21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实施计划与风险：技术已冻结，接下来是试点</a:t>
            </a:r>
          </a:p>
        </p:txBody>
      </p:sp>
      <p:graphicFrame>
        <p:nvGraphicFramePr>
          <p:cNvPr id="22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时间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事情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10/07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技术冻结（可复现包 + 文档 + 冻结 tag）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11 月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大赛产业对接会争取试点意向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2027 Q1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首个污水厂试点（1 台设备、3–6 个月对照）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风险对策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数据拿不到→公开数据+仿真+意向书；参考段不净→工具告警+多段标定；标定漂移→多源冗余+漂移监控；成本未知→保持占位口径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22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评委常问五问（应答预案）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评委常问五问（应答预案）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有真实污水厂数据吗？没有，正在申请；污水厂侧结论全标"仿真"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能在别的厂复现吗？阈值按厂标定；工具支持多段与工况分层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和现有算法比强在哪？机制层（双基线/条件化/对拍）+ 设备级比值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能省多少钱？结构可算，金额待企业参数标定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知识产权？软著在办；代码与文档可现场演示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23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团队：技术线已具备，正在补齐水务专业与指导老师</a:t>
            </a:r>
          </a:p>
        </p:txBody>
      </p:sp>
      <p:sp>
        <p:nvSpPr>
          <p:cNvPr id="2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团队：技术线已具备，正在补齐水务专业与指导老师</a:t>
            </a:r>
          </a:p>
        </p:txBody>
      </p:sp>
      <p:sp>
        <p:nvSpPr>
          <p:cNvPr id="2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负责人：（算法、工程、材料）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拟补：给排水 / 环境专业 1 人（把关专业说法）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拟补：市场与 PPT 1 人（市场与商业内容）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指导老师：；合作资源：高校实验室 + 大赛产业导师</a:t>
            </a:r>
          </a:p>
        </p:txBody>
      </p:sp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24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谢谢——我们要的是一次试点机会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谢谢——我们要的是一次试点机会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不要"相信我们"，要一台设备、三个月、一份对照报告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试点零成本：我们出工具、出报告，贵方只需提供历史数据与检修台账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联系方式： ｜ ｜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25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F4EFE6"/>
                </a:solidFill>
                <a:latin typeface="Georgia"/>
                <a:ea typeface="Georgia"/>
              </a:rPr>
              <a:t>谢谢</a:t>
            </a:r>
          </a:p>
        </p:txBody>
      </p:sp>
      <p:sp>
        <p:nvSpPr>
          <p:cNvPr id="26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C9A84C"/>
                </a:solidFill>
                <a:latin typeface="Helvetica Neue"/>
                <a:ea typeface="Helvetica Neue"/>
              </a:rPr>
              <a:t>澜脉 · 污水厂设备 AI 预测性维护系统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26 / 26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C_criter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1130358"/>
            <a:ext cx="10850880" cy="394577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5731383"/>
            <a:ext cx="10850880" cy="65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34455"/>
                </a:solidFill>
              </a:rPr>
              <a:t>检测判据：双基线分数 + 事件机 + P1/P2/P3 分级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sm2_route_b_de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883" y="670560"/>
            <a:ext cx="7460234" cy="4865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5731383"/>
            <a:ext cx="10850880" cy="65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34455"/>
                </a:solidFill>
              </a:rPr>
              <a:t>BSM2 整厂：原始量检不出，设备级比值通道 9.80 天检出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0622" y="670560"/>
            <a:ext cx="4670755" cy="486537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5731383"/>
            <a:ext cx="10850880" cy="65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34455"/>
                </a:solidFill>
              </a:rPr>
              <a:t>本地工作台：浏览器上传 CSV → 标定基线 → 出报告（数据不出本机）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E_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1524935"/>
            <a:ext cx="10850880" cy="31566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5731383"/>
            <a:ext cx="10850880" cy="65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334455"/>
                </a:solidFill>
              </a:rPr>
              <a:t>现场试点（POC）四步：选设备 → 标定 → 历史回放 → 在线运行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sh-ppt Velvet Standard">
  <a:themeElements>
    <a:clrScheme name="dsh-ppt">
      <a:dk1>
        <a:srgbClr val="F4EFE6"/>
      </a:dk1>
      <a:lt1>
        <a:srgbClr val="111316"/>
      </a:lt1>
      <a:dk2>
        <a:srgbClr val="A79F91"/>
      </a:dk2>
      <a:lt2>
        <a:srgbClr val="1A1D22"/>
      </a:lt2>
      <a:accent1>
        <a:srgbClr val="C9A84C"/>
      </a:accent1>
      <a:accent2>
        <a:srgbClr val="3D4A63"/>
      </a:accent2>
      <a:accent3>
        <a:srgbClr val="F4EFE6"/>
      </a:accent3>
      <a:accent4>
        <a:srgbClr val="A79F91"/>
      </a:accent4>
      <a:accent5>
        <a:srgbClr val="C9A84C"/>
      </a:accent5>
      <a:accent6>
        <a:srgbClr val="3D4A63"/>
      </a:accent6>
      <a:hlink>
        <a:srgbClr val="C9A84C"/>
      </a:hlink>
      <a:folHlink>
        <a:srgbClr val="3D4A63"/>
      </a:folHlink>
    </a:clrScheme>
    <a:fontScheme name="dsh-ppt">
      <a:majorFont>
        <a:latin typeface="Georgia"/>
        <a:ea typeface=""/>
        <a:cs typeface=""/>
      </a:majorFont>
      <a:minorFont>
        <a:latin typeface="Helvetica Neue"/>
        <a:ea typeface="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26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澜脉 · 污水厂设备 AI 预测性维护系统</dc:title>
  <dc:creator>dsh-ppt</dc:creator>
  <cp:lastModifiedBy>dsh-ppt</cp:lastModifiedBy>
</cp:coreProperties>
</file>